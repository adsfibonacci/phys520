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4"/>
  </p:notesMasterIdLst>
  <p:sldIdLst>
    <p:sldId id="285" r:id="rId2"/>
    <p:sldId id="346" r:id="rId3"/>
    <p:sldId id="279" r:id="rId4"/>
    <p:sldId id="347" r:id="rId5"/>
    <p:sldId id="332" r:id="rId6"/>
    <p:sldId id="281" r:id="rId7"/>
    <p:sldId id="286" r:id="rId8"/>
    <p:sldId id="333" r:id="rId9"/>
    <p:sldId id="287" r:id="rId10"/>
    <p:sldId id="335" r:id="rId11"/>
    <p:sldId id="274" r:id="rId12"/>
    <p:sldId id="278" r:id="rId13"/>
    <p:sldId id="340" r:id="rId14"/>
    <p:sldId id="275" r:id="rId15"/>
    <p:sldId id="288" r:id="rId16"/>
    <p:sldId id="342" r:id="rId17"/>
    <p:sldId id="341" r:id="rId18"/>
    <p:sldId id="277" r:id="rId19"/>
    <p:sldId id="284" r:id="rId20"/>
    <p:sldId id="280" r:id="rId21"/>
    <p:sldId id="276" r:id="rId22"/>
    <p:sldId id="289" r:id="rId23"/>
    <p:sldId id="290" r:id="rId24"/>
    <p:sldId id="343" r:id="rId25"/>
    <p:sldId id="344" r:id="rId26"/>
    <p:sldId id="291" r:id="rId27"/>
    <p:sldId id="348" r:id="rId28"/>
    <p:sldId id="303" r:id="rId29"/>
    <p:sldId id="293" r:id="rId30"/>
    <p:sldId id="305" r:id="rId31"/>
    <p:sldId id="336" r:id="rId32"/>
    <p:sldId id="349" r:id="rId33"/>
    <p:sldId id="337" r:id="rId34"/>
    <p:sldId id="338" r:id="rId35"/>
    <p:sldId id="339" r:id="rId36"/>
    <p:sldId id="334" r:id="rId37"/>
    <p:sldId id="296" r:id="rId38"/>
    <p:sldId id="298" r:id="rId39"/>
    <p:sldId id="294" r:id="rId40"/>
    <p:sldId id="309" r:id="rId41"/>
    <p:sldId id="297" r:id="rId42"/>
    <p:sldId id="345" r:id="rId4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5530" autoAdjust="0"/>
  </p:normalViewPr>
  <p:slideViewPr>
    <p:cSldViewPr snapToGrid="0" showGuides="1">
      <p:cViewPr varScale="1">
        <p:scale>
          <a:sx n="119" d="100"/>
          <a:sy n="119" d="100"/>
        </p:scale>
        <p:origin x="132" y="35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Zástupný symbol pro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1A487A-BCAB-4FA9-93D5-0C8D3D81510A}" type="datetimeFigureOut">
              <a:rPr lang="en-GB" smtClean="0"/>
              <a:t>10/09/2025</a:t>
            </a:fld>
            <a:endParaRPr lang="en-GB"/>
          </a:p>
        </p:txBody>
      </p:sp>
      <p:sp>
        <p:nvSpPr>
          <p:cNvPr id="4" name="Zástupný symbol pro obrázek snímk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Zástupný symbol pro poznámky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GB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7B06DE7-9061-4127-8135-16BB94E2A4F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636156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s-CZ"/>
              <a:t>Kliknutím lze upravit styl.</a:t>
            </a:r>
            <a:endParaRPr lang="en-GB"/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  <a:endParaRPr lang="en-GB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F4212-6013-4BDE-BCCC-04B63E5B0D67}" type="datetimeFigureOut">
              <a:rPr lang="en-GB" smtClean="0"/>
              <a:t>10/09/2025</a:t>
            </a:fld>
            <a:endParaRPr lang="en-GB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33724-9734-45D8-98F4-49CB6251B12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364342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GB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GB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F4212-6013-4BDE-BCCC-04B63E5B0D67}" type="datetimeFigureOut">
              <a:rPr lang="en-GB" smtClean="0"/>
              <a:t>10/09/2025</a:t>
            </a:fld>
            <a:endParaRPr lang="en-GB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33724-9734-45D8-98F4-49CB6251B12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181475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čá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cs-CZ"/>
              <a:t>Kliknutím lze upravit styl.</a:t>
            </a:r>
            <a:endParaRPr lang="en-GB"/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F4212-6013-4BDE-BCCC-04B63E5B0D67}" type="datetimeFigureOut">
              <a:rPr lang="en-GB" smtClean="0"/>
              <a:t>10/09/2025</a:t>
            </a:fld>
            <a:endParaRPr lang="en-GB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33724-9734-45D8-98F4-49CB6251B12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49583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GB"/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GB"/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GB"/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F4212-6013-4BDE-BCCC-04B63E5B0D67}" type="datetimeFigureOut">
              <a:rPr lang="en-GB" smtClean="0"/>
              <a:t>10/09/2025</a:t>
            </a:fld>
            <a:endParaRPr lang="en-GB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33724-9734-45D8-98F4-49CB6251B12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93589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cs-CZ"/>
              <a:t>Kliknutím lze upravit styl.</a:t>
            </a:r>
            <a:endParaRPr lang="en-GB"/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GB"/>
          </a:p>
        </p:txBody>
      </p:sp>
      <p:sp>
        <p:nvSpPr>
          <p:cNvPr id="5" name="Zástupný symbol pro text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6" name="Zástupný symbol pro obsah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GB"/>
          </a:p>
        </p:txBody>
      </p:sp>
      <p:sp>
        <p:nvSpPr>
          <p:cNvPr id="7" name="Zástupný symbol pro datum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F4212-6013-4BDE-BCCC-04B63E5B0D67}" type="datetimeFigureOut">
              <a:rPr lang="en-GB" smtClean="0"/>
              <a:t>10/09/2025</a:t>
            </a:fld>
            <a:endParaRPr lang="en-GB"/>
          </a:p>
        </p:txBody>
      </p:sp>
      <p:sp>
        <p:nvSpPr>
          <p:cNvPr id="8" name="Zástupný symbol pro zápatí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Zástupný symbol pro číslo snímk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33724-9734-45D8-98F4-49CB6251B12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385012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GB"/>
          </a:p>
        </p:txBody>
      </p:sp>
      <p:sp>
        <p:nvSpPr>
          <p:cNvPr id="3" name="Zástupný symbol pro datum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F4212-6013-4BDE-BCCC-04B63E5B0D67}" type="datetimeFigureOut">
              <a:rPr lang="en-GB" smtClean="0"/>
              <a:t>10/09/2025</a:t>
            </a:fld>
            <a:endParaRPr lang="en-GB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33724-9734-45D8-98F4-49CB6251B12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129645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F4212-6013-4BDE-BCCC-04B63E5B0D67}" type="datetimeFigureOut">
              <a:rPr lang="en-GB" smtClean="0"/>
              <a:t>10/09/2025</a:t>
            </a:fld>
            <a:endParaRPr lang="en-GB"/>
          </a:p>
        </p:txBody>
      </p:sp>
      <p:sp>
        <p:nvSpPr>
          <p:cNvPr id="3" name="Zástupný symbol pro zápatí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33724-9734-45D8-98F4-49CB6251B12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141323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  <a:endParaRPr lang="en-GB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GB"/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F4212-6013-4BDE-BCCC-04B63E5B0D67}" type="datetimeFigureOut">
              <a:rPr lang="en-GB" smtClean="0"/>
              <a:t>10/09/2025</a:t>
            </a:fld>
            <a:endParaRPr lang="en-GB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33724-9734-45D8-98F4-49CB6251B12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464582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  <a:endParaRPr lang="en-GB"/>
          </a:p>
        </p:txBody>
      </p:sp>
      <p:sp>
        <p:nvSpPr>
          <p:cNvPr id="3" name="Zástupný symbol pro obrázek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F4212-6013-4BDE-BCCC-04B63E5B0D67}" type="datetimeFigureOut">
              <a:rPr lang="en-GB" smtClean="0"/>
              <a:t>10/09/2025</a:t>
            </a:fld>
            <a:endParaRPr lang="en-GB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33724-9734-45D8-98F4-49CB6251B12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210557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GB"/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GB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F4212-6013-4BDE-BCCC-04B63E5B0D67}" type="datetimeFigureOut">
              <a:rPr lang="en-GB" smtClean="0"/>
              <a:t>10/09/2025</a:t>
            </a:fld>
            <a:endParaRPr lang="en-GB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33724-9734-45D8-98F4-49CB6251B12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455863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cs-CZ"/>
              <a:t>Kliknutím lze upravit styl.</a:t>
            </a:r>
            <a:endParaRPr lang="en-GB"/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GB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F4212-6013-4BDE-BCCC-04B63E5B0D67}" type="datetimeFigureOut">
              <a:rPr lang="en-GB" smtClean="0"/>
              <a:t>10/09/2025</a:t>
            </a:fld>
            <a:endParaRPr lang="en-GB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33724-9734-45D8-98F4-49CB6251B12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091272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nadpis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  <a:endParaRPr lang="en-GB"/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GB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AF4212-6013-4BDE-BCCC-04B63E5B0D67}" type="datetimeFigureOut">
              <a:rPr lang="en-GB" smtClean="0"/>
              <a:t>10/09/2025</a:t>
            </a:fld>
            <a:endParaRPr lang="en-GB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333724-9734-45D8-98F4-49CB6251B12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98094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7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its.umich.edu/communication/collaboration/github" TargetMode="External"/><Relationship Id="rId2" Type="http://schemas.openxmlformats.org/officeDocument/2006/relationships/hyperlink" Target="https://github.com/beards-lab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://git-scm.com/downloads/guis" TargetMode="External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esktop.github.com/" TargetMode="External"/><Relationship Id="rId5" Type="http://schemas.openxmlformats.org/officeDocument/2006/relationships/hyperlink" Target="https://tortoisegit.org/" TargetMode="External"/><Relationship Id="rId4" Type="http://schemas.openxmlformats.org/officeDocument/2006/relationships/hyperlink" Target="https://git-scm.com/" TargetMode="Externa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7" Type="http://schemas.openxmlformats.org/officeDocument/2006/relationships/image" Target="../media/image27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0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eg"/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jpe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hyperlink" Target="https://zenodo.org/" TargetMode="Externa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-scm.com/book/en/v2" TargetMode="External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5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jpeg"/><Relationship Id="rId2" Type="http://schemas.openxmlformats.org/officeDocument/2006/relationships/image" Target="../media/image47.jpeg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jpe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adpis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Use  </a:t>
            </a:r>
            <a:r>
              <a:rPr lang="en-US" dirty="0" err="1"/>
              <a:t>Git</a:t>
            </a:r>
            <a:endParaRPr lang="en-GB" dirty="0"/>
          </a:p>
        </p:txBody>
      </p:sp>
      <p:sp>
        <p:nvSpPr>
          <p:cNvPr id="5" name="Podnadpis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Or any other v</a:t>
            </a:r>
            <a:r>
              <a:rPr lang="cs-CZ" dirty="0" err="1"/>
              <a:t>ersion</a:t>
            </a:r>
            <a:r>
              <a:rPr lang="cs-CZ" dirty="0"/>
              <a:t> </a:t>
            </a:r>
            <a:r>
              <a:rPr lang="cs-CZ" dirty="0" err="1"/>
              <a:t>control</a:t>
            </a:r>
            <a:r>
              <a:rPr lang="cs-CZ" dirty="0"/>
              <a:t> </a:t>
            </a:r>
            <a:r>
              <a:rPr lang="cs-CZ" dirty="0" err="1"/>
              <a:t>system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487203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4">
            <a:extLst>
              <a:ext uri="{FF2B5EF4-FFF2-40B4-BE49-F238E27FC236}">
                <a16:creationId xmlns:a16="http://schemas.microsoft.com/office/drawing/2014/main" id="{ECF8AB7E-0C6D-7244-CC36-0E9A84E52A0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3200" dirty="0"/>
              <a:t>Get </a:t>
            </a:r>
            <a:r>
              <a:rPr lang="en-US" sz="3200" b="1" dirty="0"/>
              <a:t>GitHub Desktop </a:t>
            </a:r>
            <a:br>
              <a:rPr lang="en-US" dirty="0"/>
            </a:br>
            <a:r>
              <a:rPr lang="en-US" dirty="0"/>
              <a:t>(or any other git client)</a:t>
            </a:r>
          </a:p>
        </p:txBody>
      </p:sp>
      <p:pic>
        <p:nvPicPr>
          <p:cNvPr id="2052" name="Picture 4" descr="GitHub Desktop Application">
            <a:extLst>
              <a:ext uri="{FF2B5EF4-FFF2-40B4-BE49-F238E27FC236}">
                <a16:creationId xmlns:a16="http://schemas.microsoft.com/office/drawing/2014/main" id="{A901F4AE-9495-ABFF-FBD8-FEF25BFB61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73070" y="4560836"/>
            <a:ext cx="5622841" cy="23496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191912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Get organized!</a:t>
            </a:r>
            <a:endParaRPr lang="en-GB" dirty="0"/>
          </a:p>
        </p:txBody>
      </p:sp>
      <p:pic>
        <p:nvPicPr>
          <p:cNvPr id="4" name="Obrázek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265" y="1690688"/>
            <a:ext cx="7972425" cy="4305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68911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091FA3-E36F-E72F-1E7A-2A7908BE22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Prepare for a mistake!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17BE69-706B-9FFE-891D-DC5DC7B8B4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Made a big oops?</a:t>
            </a:r>
          </a:p>
          <a:p>
            <a:r>
              <a:rPr lang="en-US" dirty="0"/>
              <a:t>Overwrote an important file?</a:t>
            </a:r>
          </a:p>
          <a:p>
            <a:endParaRPr lang="en-US" dirty="0"/>
          </a:p>
          <a:p>
            <a:r>
              <a:rPr lang="en-US" dirty="0"/>
              <a:t>The project JUST does not run?</a:t>
            </a:r>
          </a:p>
          <a:p>
            <a:endParaRPr lang="en-US" dirty="0"/>
          </a:p>
        </p:txBody>
      </p:sp>
      <p:pic>
        <p:nvPicPr>
          <p:cNvPr id="1026" name="Picture 2" descr="Oops! I made a big mistake! What should I do? - YouTube">
            <a:extLst>
              <a:ext uri="{FF2B5EF4-FFF2-40B4-BE49-F238E27FC236}">
                <a16:creationId xmlns:a16="http://schemas.microsoft.com/office/drawing/2014/main" id="{8D30C2A0-567C-9AC5-AE1E-30FC2BF083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96300" y="1825625"/>
            <a:ext cx="2857500" cy="1600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git reset --hard my_life · ProgrammerHumor.io">
            <a:extLst>
              <a:ext uri="{FF2B5EF4-FFF2-40B4-BE49-F238E27FC236}">
                <a16:creationId xmlns:a16="http://schemas.microsoft.com/office/drawing/2014/main" id="{4ADD3654-ED5C-86DC-D1DA-1EBE2CE366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96300" y="3456126"/>
            <a:ext cx="2857500" cy="27208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031554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B68E9F8-9CB1-201A-71D8-36412B494A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versions of the same project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7A4092C8-1F19-2909-93E7-F851C2B1D5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470918" cy="4351338"/>
          </a:xfrm>
        </p:spPr>
        <p:txBody>
          <a:bodyPr/>
          <a:lstStyle/>
          <a:p>
            <a:r>
              <a:rPr lang="en-US" dirty="0"/>
              <a:t>Some experiments are dead ends</a:t>
            </a:r>
          </a:p>
          <a:p>
            <a:r>
              <a:rPr lang="en-US" dirty="0"/>
              <a:t>Still good to keep track of them</a:t>
            </a:r>
          </a:p>
          <a:p>
            <a:endParaRPr lang="en-US" dirty="0"/>
          </a:p>
          <a:p>
            <a:r>
              <a:rPr lang="en-US" dirty="0"/>
              <a:t>Hell to maintain</a:t>
            </a:r>
          </a:p>
        </p:txBody>
      </p:sp>
      <p:pic>
        <p:nvPicPr>
          <p:cNvPr id="1026" name="Picture 2" descr="GIT Branch Strategies in Test Processes - TesterYou">
            <a:extLst>
              <a:ext uri="{FF2B5EF4-FFF2-40B4-BE49-F238E27FC236}">
                <a16:creationId xmlns:a16="http://schemas.microsoft.com/office/drawing/2014/main" id="{269AC49E-0E73-CF5B-41A5-F5F450D1B4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09118" y="2567568"/>
            <a:ext cx="6882882" cy="42904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391049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Get backed up!</a:t>
            </a:r>
            <a:endParaRPr lang="en-GB" dirty="0"/>
          </a:p>
        </p:txBody>
      </p:sp>
      <p:pic>
        <p:nvPicPr>
          <p:cNvPr id="4" name="Picture 2" descr="https://i.imgflip.com/5flpav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6279" y="1825625"/>
            <a:ext cx="5495925" cy="4762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199229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err="1"/>
              <a:t>Collaborate</a:t>
            </a:r>
            <a:r>
              <a:rPr lang="cs-CZ" dirty="0"/>
              <a:t>!</a:t>
            </a:r>
            <a:endParaRPr lang="en-GB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4" name="Obrázek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907" y="1926293"/>
            <a:ext cx="6438900" cy="2495550"/>
          </a:xfrm>
          <a:prstGeom prst="rect">
            <a:avLst/>
          </a:prstGeom>
        </p:spPr>
      </p:pic>
      <p:pic>
        <p:nvPicPr>
          <p:cNvPr id="5" name="Obrázek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26587" y="5021205"/>
            <a:ext cx="3265413" cy="1836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67794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9A6401E-0BD7-76FB-5E7F-46557F21C4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Make your research public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D875B028-130C-E263-C50A-1796AE0C6F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Science must be repeatable</a:t>
            </a:r>
          </a:p>
          <a:p>
            <a:r>
              <a:rPr lang="en-US" dirty="0"/>
              <a:t>Describe methods, attach source code</a:t>
            </a:r>
          </a:p>
          <a:p>
            <a:pPr lvl="1"/>
            <a:r>
              <a:rPr lang="en-US" dirty="0"/>
              <a:t>Bug in the methods or in the code</a:t>
            </a:r>
          </a:p>
          <a:p>
            <a:r>
              <a:rPr lang="en-US" dirty="0"/>
              <a:t>80 % of the modeling papers can’t be replicated without the source codes</a:t>
            </a:r>
          </a:p>
          <a:p>
            <a:pPr lvl="1"/>
            <a:r>
              <a:rPr lang="en-US" dirty="0"/>
              <a:t>links to old, hard-to-find papers</a:t>
            </a:r>
          </a:p>
          <a:p>
            <a:pPr lvl="1"/>
            <a:r>
              <a:rPr lang="en-US" dirty="0"/>
              <a:t>Missing equations</a:t>
            </a:r>
          </a:p>
          <a:p>
            <a:pPr lvl="1"/>
            <a:r>
              <a:rPr lang="en-US" dirty="0"/>
              <a:t>Missing values</a:t>
            </a:r>
          </a:p>
          <a:p>
            <a:pPr lvl="1"/>
            <a:r>
              <a:rPr lang="en-US" dirty="0"/>
              <a:t>Typos</a:t>
            </a:r>
          </a:p>
        </p:txBody>
      </p:sp>
      <p:sp>
        <p:nvSpPr>
          <p:cNvPr id="4" name="Obdélník 3">
            <a:extLst>
              <a:ext uri="{FF2B5EF4-FFF2-40B4-BE49-F238E27FC236}">
                <a16:creationId xmlns:a16="http://schemas.microsoft.com/office/drawing/2014/main" id="{EDD53346-E75C-18A1-C0E5-6F11E04D6324}"/>
              </a:ext>
            </a:extLst>
          </p:cNvPr>
          <p:cNvSpPr/>
          <p:nvPr/>
        </p:nvSpPr>
        <p:spPr>
          <a:xfrm>
            <a:off x="5946710" y="5103674"/>
            <a:ext cx="6096000" cy="175432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i="1" dirty="0">
                <a:solidFill>
                  <a:srgbClr val="222222"/>
                </a:solidFill>
                <a:latin typeface="Arial" panose="020B0604020202020204" pitchFamily="34" charset="0"/>
              </a:rPr>
              <a:t>“The model enclosed is the earliest I have in my files, so it may not duplicate what is in my paper.”</a:t>
            </a:r>
          </a:p>
          <a:p>
            <a:endParaRPr lang="en-US" b="1" i="1" dirty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pPr algn="r"/>
            <a:r>
              <a:rPr lang="en-US" b="1" i="1" dirty="0">
                <a:solidFill>
                  <a:srgbClr val="222222"/>
                </a:solidFill>
                <a:latin typeface="Arial" panose="020B0604020202020204" pitchFamily="34" charset="0"/>
              </a:rPr>
              <a:t>Undisclosed author, </a:t>
            </a:r>
            <a:br>
              <a:rPr lang="en-US" b="1" i="1" dirty="0">
                <a:solidFill>
                  <a:srgbClr val="222222"/>
                </a:solidFill>
                <a:latin typeface="Arial" panose="020B0604020202020204" pitchFamily="34" charset="0"/>
              </a:rPr>
            </a:br>
            <a:r>
              <a:rPr lang="en-US" b="1" i="1" dirty="0">
                <a:solidFill>
                  <a:srgbClr val="222222"/>
                </a:solidFill>
                <a:latin typeface="Arial" panose="020B0604020202020204" pitchFamily="34" charset="0"/>
              </a:rPr>
              <a:t>personal communication, </a:t>
            </a:r>
            <a:br>
              <a:rPr lang="en-US" b="1" i="1" dirty="0">
                <a:solidFill>
                  <a:srgbClr val="222222"/>
                </a:solidFill>
                <a:latin typeface="Arial" panose="020B0604020202020204" pitchFamily="34" charset="0"/>
              </a:rPr>
            </a:br>
            <a:r>
              <a:rPr lang="en-US" b="1" i="1" dirty="0">
                <a:solidFill>
                  <a:srgbClr val="222222"/>
                </a:solidFill>
                <a:latin typeface="Arial" panose="020B0604020202020204" pitchFamily="34" charset="0"/>
              </a:rPr>
              <a:t>01/05/2022</a:t>
            </a:r>
          </a:p>
        </p:txBody>
      </p:sp>
    </p:spTree>
    <p:extLst>
      <p:ext uri="{BB962C8B-B14F-4D97-AF65-F5344CB8AC3E}">
        <p14:creationId xmlns:p14="http://schemas.microsoft.com/office/powerpoint/2010/main" val="19000049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err="1"/>
              <a:t>Version</a:t>
            </a:r>
            <a:r>
              <a:rPr lang="cs-CZ" dirty="0"/>
              <a:t> </a:t>
            </a:r>
            <a:r>
              <a:rPr lang="cs-CZ" dirty="0" err="1"/>
              <a:t>control</a:t>
            </a:r>
            <a:r>
              <a:rPr lang="cs-CZ" dirty="0"/>
              <a:t> </a:t>
            </a:r>
            <a:r>
              <a:rPr lang="cs-CZ" dirty="0" err="1"/>
              <a:t>system</a:t>
            </a:r>
            <a:endParaRPr lang="en-GB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 err="1"/>
              <a:t>Tracks</a:t>
            </a:r>
            <a:r>
              <a:rPr lang="cs-CZ" dirty="0"/>
              <a:t> </a:t>
            </a:r>
            <a:r>
              <a:rPr lang="cs-CZ" dirty="0" err="1"/>
              <a:t>all</a:t>
            </a:r>
            <a:r>
              <a:rPr lang="cs-CZ" dirty="0"/>
              <a:t> </a:t>
            </a:r>
            <a:r>
              <a:rPr lang="cs-CZ" dirty="0" err="1"/>
              <a:t>the</a:t>
            </a:r>
            <a:r>
              <a:rPr lang="cs-CZ" dirty="0"/>
              <a:t> </a:t>
            </a:r>
            <a:r>
              <a:rPr lang="cs-CZ" dirty="0" err="1"/>
              <a:t>revisions</a:t>
            </a:r>
            <a:r>
              <a:rPr lang="cs-CZ" dirty="0"/>
              <a:t>, </a:t>
            </a:r>
            <a:r>
              <a:rPr lang="cs-CZ" dirty="0" err="1"/>
              <a:t>creates</a:t>
            </a:r>
            <a:r>
              <a:rPr lang="cs-CZ" dirty="0"/>
              <a:t> </a:t>
            </a:r>
            <a:r>
              <a:rPr lang="cs-CZ" dirty="0" err="1"/>
              <a:t>safe</a:t>
            </a:r>
            <a:r>
              <a:rPr lang="cs-CZ" dirty="0"/>
              <a:t> „</a:t>
            </a:r>
            <a:r>
              <a:rPr lang="cs-CZ" dirty="0" err="1"/>
              <a:t>Checkpoints</a:t>
            </a:r>
            <a:r>
              <a:rPr lang="cs-CZ" dirty="0"/>
              <a:t>“</a:t>
            </a:r>
          </a:p>
          <a:p>
            <a:r>
              <a:rPr lang="cs-CZ" dirty="0" err="1"/>
              <a:t>Allows</a:t>
            </a:r>
            <a:r>
              <a:rPr lang="cs-CZ" dirty="0"/>
              <a:t> </a:t>
            </a:r>
            <a:r>
              <a:rPr lang="cs-CZ" dirty="0" err="1"/>
              <a:t>organizing</a:t>
            </a:r>
            <a:r>
              <a:rPr lang="cs-CZ" dirty="0"/>
              <a:t> </a:t>
            </a:r>
            <a:r>
              <a:rPr lang="cs-CZ" dirty="0" err="1"/>
              <a:t>the</a:t>
            </a:r>
            <a:r>
              <a:rPr lang="cs-CZ" dirty="0"/>
              <a:t> </a:t>
            </a:r>
            <a:r>
              <a:rPr lang="cs-CZ" dirty="0" err="1"/>
              <a:t>project</a:t>
            </a:r>
            <a:r>
              <a:rPr lang="cs-CZ" dirty="0"/>
              <a:t> in </a:t>
            </a:r>
            <a:r>
              <a:rPr lang="cs-CZ" dirty="0" err="1"/>
              <a:t>multiple</a:t>
            </a:r>
            <a:r>
              <a:rPr lang="cs-CZ" dirty="0"/>
              <a:t> (</a:t>
            </a:r>
            <a:r>
              <a:rPr lang="cs-CZ" dirty="0" err="1"/>
              <a:t>concurrent</a:t>
            </a:r>
            <a:r>
              <a:rPr lang="cs-CZ" dirty="0"/>
              <a:t>) </a:t>
            </a:r>
            <a:r>
              <a:rPr lang="cs-CZ" dirty="0" err="1"/>
              <a:t>branches</a:t>
            </a:r>
            <a:endParaRPr lang="cs-CZ" dirty="0"/>
          </a:p>
          <a:p>
            <a:r>
              <a:rPr lang="cs-CZ" dirty="0" err="1"/>
              <a:t>Simplifies</a:t>
            </a:r>
            <a:r>
              <a:rPr lang="cs-CZ" dirty="0"/>
              <a:t> </a:t>
            </a:r>
            <a:r>
              <a:rPr lang="cs-CZ" dirty="0" err="1"/>
              <a:t>cooperation</a:t>
            </a:r>
            <a:endParaRPr lang="en-US" dirty="0"/>
          </a:p>
          <a:p>
            <a:r>
              <a:rPr lang="en-US" dirty="0"/>
              <a:t>Tag the release version and back it up!</a:t>
            </a:r>
          </a:p>
          <a:p>
            <a:endParaRPr lang="cs-CZ" dirty="0"/>
          </a:p>
          <a:p>
            <a:endParaRPr lang="en-GB" dirty="0"/>
          </a:p>
        </p:txBody>
      </p:sp>
      <p:sp>
        <p:nvSpPr>
          <p:cNvPr id="4" name="Obdélník 3"/>
          <p:cNvSpPr/>
          <p:nvPr/>
        </p:nvSpPr>
        <p:spPr>
          <a:xfrm>
            <a:off x="6096000" y="5576798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i="1" dirty="0">
                <a:solidFill>
                  <a:srgbClr val="222222"/>
                </a:solidFill>
                <a:latin typeface="Arial" panose="020B0604020202020204" pitchFamily="34" charset="0"/>
              </a:rPr>
              <a:t>“The model enclosed is the earliest I have in my files, so it may not duplicate what is in my paper.”</a:t>
            </a:r>
          </a:p>
          <a:p>
            <a:endParaRPr lang="en-US" i="1" dirty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pPr algn="r"/>
            <a:r>
              <a:rPr lang="en-US" i="1" dirty="0">
                <a:solidFill>
                  <a:srgbClr val="222222"/>
                </a:solidFill>
                <a:latin typeface="Arial" panose="020B0604020202020204" pitchFamily="34" charset="0"/>
              </a:rPr>
              <a:t>Undisclosed author, 01/05/2022</a:t>
            </a:r>
          </a:p>
        </p:txBody>
      </p:sp>
    </p:spTree>
    <p:extLst>
      <p:ext uri="{BB962C8B-B14F-4D97-AF65-F5344CB8AC3E}">
        <p14:creationId xmlns:p14="http://schemas.microsoft.com/office/powerpoint/2010/main" val="380100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F7F258D-2B73-24F2-B9A6-9C63F1EADC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Version control systems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DDEA0E02-D5C8-08DD-CCD0-BC7FB2F053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Source Code Control System (1972)</a:t>
            </a:r>
          </a:p>
          <a:p>
            <a:r>
              <a:rPr lang="en-US" i="1" dirty="0"/>
              <a:t>CVS (1985)</a:t>
            </a:r>
          </a:p>
          <a:p>
            <a:r>
              <a:rPr lang="en-US" i="1" dirty="0"/>
              <a:t>Subversion (SVN)</a:t>
            </a:r>
          </a:p>
          <a:p>
            <a:r>
              <a:rPr lang="en-US" dirty="0"/>
              <a:t>…</a:t>
            </a:r>
          </a:p>
          <a:p>
            <a:r>
              <a:rPr lang="en-US" dirty="0" err="1"/>
              <a:t>BitKeeper</a:t>
            </a:r>
            <a:endParaRPr lang="en-US" dirty="0"/>
          </a:p>
          <a:p>
            <a:r>
              <a:rPr lang="en-US" dirty="0"/>
              <a:t>GNU Bazaar</a:t>
            </a:r>
          </a:p>
          <a:p>
            <a:r>
              <a:rPr lang="en-US" dirty="0"/>
              <a:t>Mercurial (2005)</a:t>
            </a:r>
          </a:p>
          <a:p>
            <a:r>
              <a:rPr lang="en-US" b="1" dirty="0"/>
              <a:t>Git (2005)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44177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 </a:t>
            </a:r>
            <a:r>
              <a:rPr lang="en-US" dirty="0" err="1"/>
              <a:t>Git</a:t>
            </a:r>
            <a:r>
              <a:rPr lang="en-US" dirty="0"/>
              <a:t>!</a:t>
            </a:r>
            <a:endParaRPr lang="en-GB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946961"/>
          </a:xfrm>
        </p:spPr>
        <p:txBody>
          <a:bodyPr>
            <a:normAutofit fontScale="85000" lnSpcReduction="20000"/>
          </a:bodyPr>
          <a:lstStyle/>
          <a:p>
            <a:pPr marL="0" indent="0" algn="l">
              <a:buNone/>
            </a:pPr>
            <a:r>
              <a:rPr lang="en-US" b="0" i="1" dirty="0">
                <a:solidFill>
                  <a:srgbClr val="1F1F1F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an </a:t>
            </a:r>
            <a:r>
              <a:rPr lang="en-US" b="0" i="1" u="sng" dirty="0">
                <a:solidFill>
                  <a:srgbClr val="1F1F1F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unpleasant</a:t>
            </a:r>
            <a:r>
              <a:rPr lang="en-US" b="0" i="1" dirty="0">
                <a:solidFill>
                  <a:srgbClr val="1F1F1F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 or </a:t>
            </a:r>
            <a:r>
              <a:rPr lang="en-US" b="0" i="1" u="sng" dirty="0">
                <a:solidFill>
                  <a:srgbClr val="1F1F1F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contemptible</a:t>
            </a:r>
            <a:r>
              <a:rPr lang="en-US" b="0" i="1" dirty="0">
                <a:solidFill>
                  <a:srgbClr val="1F1F1F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 person.</a:t>
            </a:r>
          </a:p>
          <a:p>
            <a:pPr marL="0" indent="0" algn="l">
              <a:buNone/>
            </a:pPr>
            <a:r>
              <a:rPr lang="en-US" b="0" i="1" dirty="0">
                <a:solidFill>
                  <a:srgbClr val="1F1F1F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"that mean old git"</a:t>
            </a:r>
          </a:p>
          <a:p>
            <a:endParaRPr lang="en-US" i="1" dirty="0"/>
          </a:p>
          <a:p>
            <a:r>
              <a:rPr lang="en-US" i="1" dirty="0"/>
              <a:t>Global information tracker </a:t>
            </a:r>
            <a:r>
              <a:rPr lang="en-US" dirty="0"/>
              <a:t> (or </a:t>
            </a:r>
            <a:r>
              <a:rPr lang="en-US" i="1" dirty="0"/>
              <a:t>goddamn idiotic truckload of ****</a:t>
            </a:r>
            <a:r>
              <a:rPr lang="en-US" dirty="0"/>
              <a:t>)</a:t>
            </a:r>
          </a:p>
          <a:p>
            <a:r>
              <a:rPr lang="en-US" dirty="0"/>
              <a:t>Developed to support Linux core development in 2005</a:t>
            </a:r>
          </a:p>
          <a:p>
            <a:r>
              <a:rPr lang="cs-CZ" dirty="0"/>
              <a:t>Most </a:t>
            </a:r>
            <a:r>
              <a:rPr lang="cs-CZ" dirty="0" err="1"/>
              <a:t>popular</a:t>
            </a:r>
            <a:r>
              <a:rPr lang="cs-CZ" dirty="0"/>
              <a:t> </a:t>
            </a:r>
            <a:r>
              <a:rPr lang="en-US" dirty="0"/>
              <a:t>Version </a:t>
            </a:r>
            <a:r>
              <a:rPr lang="cs-CZ" dirty="0" err="1"/>
              <a:t>control</a:t>
            </a:r>
            <a:r>
              <a:rPr lang="cs-CZ" dirty="0"/>
              <a:t> </a:t>
            </a:r>
            <a:r>
              <a:rPr lang="en-US" dirty="0"/>
              <a:t>system with collaboration</a:t>
            </a:r>
          </a:p>
          <a:p>
            <a:endParaRPr lang="en-US" dirty="0"/>
          </a:p>
          <a:p>
            <a:r>
              <a:rPr lang="en-US" dirty="0"/>
              <a:t>Don’t get lost in your versions, name them and store them!</a:t>
            </a:r>
          </a:p>
          <a:p>
            <a:r>
              <a:rPr lang="en-US" dirty="0"/>
              <a:t>Backup and recovery</a:t>
            </a:r>
          </a:p>
          <a:p>
            <a:r>
              <a:rPr lang="en-US" dirty="0"/>
              <a:t>Sharing and dissemination</a:t>
            </a:r>
          </a:p>
          <a:p>
            <a:r>
              <a:rPr lang="en-US" dirty="0"/>
              <a:t>It’s easy, it’s open-source, it’s free</a:t>
            </a:r>
          </a:p>
          <a:p>
            <a:endParaRPr lang="en-US" dirty="0"/>
          </a:p>
          <a:p>
            <a:r>
              <a:rPr lang="en-US" dirty="0"/>
              <a:t>It is a necessity!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8" name="Obrázek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99383" y="4264503"/>
            <a:ext cx="3348420" cy="2508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91214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to version control?</a:t>
            </a:r>
            <a:endParaRPr lang="en-GB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Anything </a:t>
            </a:r>
            <a:r>
              <a:rPr lang="en-US" b="1" dirty="0"/>
              <a:t>plaintext</a:t>
            </a:r>
            <a:r>
              <a:rPr lang="en-US" dirty="0"/>
              <a:t>, that you develop in time</a:t>
            </a:r>
          </a:p>
          <a:p>
            <a:pPr lvl="1"/>
            <a:r>
              <a:rPr lang="en-US" dirty="0"/>
              <a:t>Track your progress, tag a release</a:t>
            </a:r>
          </a:p>
          <a:p>
            <a:pPr lvl="1"/>
            <a:endParaRPr lang="en-US" dirty="0"/>
          </a:p>
          <a:p>
            <a:r>
              <a:rPr lang="en-US" dirty="0"/>
              <a:t>Required data and supporting files</a:t>
            </a:r>
          </a:p>
          <a:p>
            <a:pPr lvl="1"/>
            <a:r>
              <a:rPr lang="en-US" i="1" dirty="0"/>
              <a:t>Skip intermediate, generated files</a:t>
            </a:r>
          </a:p>
          <a:p>
            <a:endParaRPr lang="en-US" dirty="0"/>
          </a:p>
          <a:p>
            <a:r>
              <a:rPr lang="en-US" dirty="0"/>
              <a:t>Public stuff vs Private </a:t>
            </a:r>
            <a:r>
              <a:rPr lang="en-US" dirty="0" err="1"/>
              <a:t>stuf</a:t>
            </a:r>
            <a:r>
              <a:rPr lang="en-US" dirty="0"/>
              <a:t> (GitHub)</a:t>
            </a:r>
          </a:p>
          <a:p>
            <a:pPr lvl="1"/>
            <a:r>
              <a:rPr lang="en-US" dirty="0"/>
              <a:t>Top secret stuff? (own Git server?)</a:t>
            </a:r>
          </a:p>
          <a:p>
            <a:endParaRPr lang="en-US" dirty="0"/>
          </a:p>
          <a:p>
            <a:r>
              <a:rPr lang="en-US" dirty="0"/>
              <a:t>Have codes? Make a </a:t>
            </a:r>
            <a:r>
              <a:rPr lang="en-US" b="1" dirty="0"/>
              <a:t>repository</a:t>
            </a:r>
            <a:r>
              <a:rPr lang="en-US" dirty="0"/>
              <a:t>!</a:t>
            </a:r>
          </a:p>
          <a:p>
            <a:r>
              <a:rPr lang="en-US" dirty="0"/>
              <a:t>Working on a codes? Commit and push!</a:t>
            </a:r>
          </a:p>
          <a:p>
            <a:r>
              <a:rPr lang="en-US" dirty="0"/>
              <a:t>“Publish only finished” ?</a:t>
            </a:r>
          </a:p>
          <a:p>
            <a:pPr lvl="1"/>
            <a:r>
              <a:rPr lang="en-US" b="1" dirty="0"/>
              <a:t>A project is never final</a:t>
            </a:r>
          </a:p>
          <a:p>
            <a:endParaRPr lang="en-US" dirty="0"/>
          </a:p>
        </p:txBody>
      </p:sp>
      <p:pic>
        <p:nvPicPr>
          <p:cNvPr id="2050" name="Picture 2" descr="https://i.imgflip.com/5flo20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01100" y="3467100"/>
            <a:ext cx="3390900" cy="3390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200113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96B2BF-DADA-6F71-87D2-D7C00B6BF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Git Repository?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EDEBEC8-9089-938F-BE76-A7430F87A7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en-US" dirty="0"/>
              <a:t>Repository: history and branches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3FBAC8D-20B0-C27C-8B97-F6D23862F75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ctr"/>
            <a:r>
              <a:rPr lang="en-US" dirty="0"/>
              <a:t>Working copy: files on the drive</a:t>
            </a:r>
          </a:p>
        </p:txBody>
      </p:sp>
      <p:pic>
        <p:nvPicPr>
          <p:cNvPr id="1028" name="Picture 4" descr="500+ Wine Bottle Pictures [HD] | Download Free Images on Unsplash">
            <a:extLst>
              <a:ext uri="{FF2B5EF4-FFF2-40B4-BE49-F238E27FC236}">
                <a16:creationId xmlns:a16="http://schemas.microsoft.com/office/drawing/2014/main" id="{C1A732BE-81FD-26AC-D43F-4402C6FAE971}"/>
              </a:ext>
            </a:extLst>
          </p:cNvPr>
          <p:cNvPicPr>
            <a:picLocks noGrp="1" noChangeAspect="1" noChangeArrowheads="1"/>
          </p:cNvPicPr>
          <p:nvPr>
            <p:ph sz="quarter" idx="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97575" y="2712030"/>
            <a:ext cx="2390775" cy="1914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 descr="HZJUJ High end Wine Racks 6 Bottle Countertop Wine Rack Wine Rack Repository  Modern Metal Wine">
            <a:extLst>
              <a:ext uri="{FF2B5EF4-FFF2-40B4-BE49-F238E27FC236}">
                <a16:creationId xmlns:a16="http://schemas.microsoft.com/office/drawing/2014/main" id="{F84EC19C-E4B2-04F0-24B4-B2E3375B56D3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027" y="2825750"/>
            <a:ext cx="2295525" cy="1990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Obrázek 7">
            <a:extLst>
              <a:ext uri="{FF2B5EF4-FFF2-40B4-BE49-F238E27FC236}">
                <a16:creationId xmlns:a16="http://schemas.microsoft.com/office/drawing/2014/main" id="{995A484D-ECE5-5486-A602-1D465B17D13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4212" t="16069" r="72641" b="52379"/>
          <a:stretch/>
        </p:blipFill>
        <p:spPr>
          <a:xfrm>
            <a:off x="2892669" y="2644247"/>
            <a:ext cx="1547447" cy="200096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52E294A-FCFA-63F0-139F-0729FA7B31A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46222" y="2522112"/>
            <a:ext cx="1792471" cy="2294363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73B407EA-43A4-48AC-20F0-ED2A0E6677B4}"/>
              </a:ext>
            </a:extLst>
          </p:cNvPr>
          <p:cNvSpPr txBox="1"/>
          <p:nvPr/>
        </p:nvSpPr>
        <p:spPr>
          <a:xfrm>
            <a:off x="1095498" y="4992171"/>
            <a:ext cx="609746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(usually in hidden subfolder, e.g. </a:t>
            </a:r>
            <a:r>
              <a:rPr lang="en-US" sz="2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.Git</a:t>
            </a:r>
            <a:r>
              <a:rPr lang="en-US" dirty="0"/>
              <a:t>)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A7125D98-1964-0FE1-2D5B-B5F9E926E47B}"/>
              </a:ext>
            </a:extLst>
          </p:cNvPr>
          <p:cNvSpPr txBox="1">
            <a:spLocks/>
          </p:cNvSpPr>
          <p:nvPr/>
        </p:nvSpPr>
        <p:spPr>
          <a:xfrm>
            <a:off x="1676400" y="580079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dirty="0"/>
              <a:t>Just a folder with some extras..</a:t>
            </a:r>
          </a:p>
        </p:txBody>
      </p:sp>
    </p:spTree>
    <p:extLst>
      <p:ext uri="{BB962C8B-B14F-4D97-AF65-F5344CB8AC3E}">
        <p14:creationId xmlns:p14="http://schemas.microsoft.com/office/powerpoint/2010/main" val="12469524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Repository log – take me to the past and back</a:t>
            </a:r>
            <a:endParaRPr lang="en-GB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A59CD16-06CB-40BE-A755-C26E712765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3045" y="1825625"/>
            <a:ext cx="7439372" cy="4780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20096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Obrázek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452" y="3650810"/>
            <a:ext cx="5952103" cy="3206974"/>
          </a:xfrm>
          <a:prstGeom prst="rect">
            <a:avLst/>
          </a:prstGeom>
        </p:spPr>
      </p:pic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Centralized and distributed repositories</a:t>
            </a:r>
            <a:r>
              <a:rPr lang="en-US" dirty="0"/>
              <a:t> and GitHub</a:t>
            </a:r>
            <a:endParaRPr lang="en-GB" dirty="0"/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/>
          </p:nvPr>
        </p:nvSpPr>
        <p:spPr>
          <a:xfrm>
            <a:off x="84885" y="1721068"/>
            <a:ext cx="4100809" cy="2188202"/>
          </a:xfrm>
        </p:spPr>
        <p:txBody>
          <a:bodyPr>
            <a:normAutofit/>
          </a:bodyPr>
          <a:lstStyle/>
          <a:p>
            <a:r>
              <a:rPr lang="en-US" dirty="0"/>
              <a:t>Centralized repositories:</a:t>
            </a:r>
            <a:br>
              <a:rPr lang="en-US" dirty="0"/>
            </a:br>
            <a:r>
              <a:rPr lang="en-US" dirty="0"/>
              <a:t>All history on </a:t>
            </a:r>
            <a:r>
              <a:rPr lang="en-US" b="1" dirty="0"/>
              <a:t>ONE</a:t>
            </a:r>
            <a:r>
              <a:rPr lang="en-US" dirty="0"/>
              <a:t> place</a:t>
            </a:r>
            <a:br>
              <a:rPr lang="en-US" dirty="0"/>
            </a:br>
            <a:r>
              <a:rPr lang="en-US" dirty="0"/>
              <a:t>(CVS, SVN…)</a:t>
            </a:r>
          </a:p>
          <a:p>
            <a:r>
              <a:rPr lang="en-US" dirty="0"/>
              <a:t>Users pull </a:t>
            </a:r>
            <a:r>
              <a:rPr lang="en-US" i="1" dirty="0"/>
              <a:t>working copies</a:t>
            </a:r>
          </a:p>
        </p:txBody>
      </p:sp>
      <p:sp>
        <p:nvSpPr>
          <p:cNvPr id="10" name="Zástupný symbol pro obsah 9"/>
          <p:cNvSpPr>
            <a:spLocks noGrp="1"/>
          </p:cNvSpPr>
          <p:nvPr>
            <p:ph sz="half" idx="2"/>
          </p:nvPr>
        </p:nvSpPr>
        <p:spPr>
          <a:xfrm>
            <a:off x="8842738" y="1733601"/>
            <a:ext cx="2812409" cy="4351338"/>
          </a:xfrm>
        </p:spPr>
        <p:txBody>
          <a:bodyPr>
            <a:normAutofit/>
          </a:bodyPr>
          <a:lstStyle/>
          <a:p>
            <a:r>
              <a:rPr lang="cs-CZ" b="1" dirty="0"/>
              <a:t>GitHub</a:t>
            </a:r>
            <a:r>
              <a:rPr lang="cs-CZ" dirty="0"/>
              <a:t> (GitLab) adds WebUI</a:t>
            </a:r>
            <a:r>
              <a:rPr lang="en-US" dirty="0"/>
              <a:t> to the server</a:t>
            </a:r>
            <a:endParaRPr lang="en-GB" dirty="0"/>
          </a:p>
          <a:p>
            <a:endParaRPr lang="en-GB" dirty="0"/>
          </a:p>
        </p:txBody>
      </p:sp>
      <p:sp>
        <p:nvSpPr>
          <p:cNvPr id="4" name="Obdélník 3"/>
          <p:cNvSpPr/>
          <p:nvPr/>
        </p:nvSpPr>
        <p:spPr>
          <a:xfrm>
            <a:off x="7370832" y="6597725"/>
            <a:ext cx="316824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1200" dirty="0"/>
              <a:t>https://doi.org/10.7287/peerj.preprints.3159v2</a:t>
            </a:r>
          </a:p>
        </p:txBody>
      </p:sp>
      <p:sp>
        <p:nvSpPr>
          <p:cNvPr id="5" name="Obdélník 4"/>
          <p:cNvSpPr/>
          <p:nvPr/>
        </p:nvSpPr>
        <p:spPr>
          <a:xfrm>
            <a:off x="0" y="6616709"/>
            <a:ext cx="319478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1200" dirty="0"/>
              <a:t>https://www.atlassian.com/git/tutorials/why-git</a:t>
            </a:r>
          </a:p>
        </p:txBody>
      </p:sp>
      <p:pic>
        <p:nvPicPr>
          <p:cNvPr id="9" name="Obrázek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0962" y="3604724"/>
            <a:ext cx="3652838" cy="2762250"/>
          </a:xfrm>
          <a:prstGeom prst="rect">
            <a:avLst/>
          </a:prstGeom>
        </p:spPr>
      </p:pic>
      <p:sp>
        <p:nvSpPr>
          <p:cNvPr id="6" name="Zástupný symbol pro obsah 2">
            <a:extLst>
              <a:ext uri="{FF2B5EF4-FFF2-40B4-BE49-F238E27FC236}">
                <a16:creationId xmlns:a16="http://schemas.microsoft.com/office/drawing/2014/main" id="{49E54CCB-3D12-0E9A-3AC2-9BD780702733}"/>
              </a:ext>
            </a:extLst>
          </p:cNvPr>
          <p:cNvSpPr txBox="1">
            <a:spLocks/>
          </p:cNvSpPr>
          <p:nvPr/>
        </p:nvSpPr>
        <p:spPr>
          <a:xfrm>
            <a:off x="4185695" y="1690688"/>
            <a:ext cx="4173987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cs-CZ" dirty="0"/>
              <a:t>Distributed repositories</a:t>
            </a:r>
            <a:r>
              <a:rPr lang="en-US" dirty="0"/>
              <a:t>: F</a:t>
            </a:r>
            <a:r>
              <a:rPr lang="cs-CZ" dirty="0"/>
              <a:t>ull history local</a:t>
            </a:r>
            <a:r>
              <a:rPr lang="en-US" dirty="0" err="1"/>
              <a:t>ly</a:t>
            </a:r>
            <a:r>
              <a:rPr lang="cs-CZ" dirty="0"/>
              <a:t> </a:t>
            </a:r>
            <a:br>
              <a:rPr lang="en-US" dirty="0"/>
            </a:br>
            <a:r>
              <a:rPr lang="en-US" dirty="0"/>
              <a:t>(local </a:t>
            </a:r>
            <a:r>
              <a:rPr lang="cs-CZ" dirty="0"/>
              <a:t>repositor</a:t>
            </a:r>
            <a:r>
              <a:rPr lang="en-US" dirty="0" err="1"/>
              <a:t>ies</a:t>
            </a:r>
            <a:r>
              <a:rPr lang="en-US" dirty="0"/>
              <a:t>)</a:t>
            </a:r>
          </a:p>
          <a:p>
            <a:r>
              <a:rPr lang="en-US" dirty="0"/>
              <a:t>Users synchronize their versions using pull / push</a:t>
            </a:r>
          </a:p>
          <a:p>
            <a:pPr lvl="4"/>
            <a:r>
              <a:rPr lang="en-US" dirty="0"/>
              <a:t>(Git, Mercurial…)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40128789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Obrázek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452" y="3650810"/>
            <a:ext cx="5952103" cy="3206974"/>
          </a:xfrm>
          <a:prstGeom prst="rect">
            <a:avLst/>
          </a:prstGeom>
        </p:spPr>
      </p:pic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Centralized and distributed repositories</a:t>
            </a:r>
            <a:r>
              <a:rPr lang="en-US" dirty="0"/>
              <a:t> and GitHub</a:t>
            </a:r>
            <a:endParaRPr lang="en-GB" dirty="0"/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/>
          </p:nvPr>
        </p:nvSpPr>
        <p:spPr>
          <a:xfrm>
            <a:off x="84885" y="1721068"/>
            <a:ext cx="4100809" cy="2188202"/>
          </a:xfrm>
        </p:spPr>
        <p:txBody>
          <a:bodyPr>
            <a:normAutofit/>
          </a:bodyPr>
          <a:lstStyle/>
          <a:p>
            <a:r>
              <a:rPr lang="en-US" dirty="0"/>
              <a:t>Centralized repositories:</a:t>
            </a:r>
            <a:br>
              <a:rPr lang="en-US" dirty="0"/>
            </a:br>
            <a:r>
              <a:rPr lang="en-US" dirty="0"/>
              <a:t>All history on </a:t>
            </a:r>
            <a:r>
              <a:rPr lang="en-US" b="1" dirty="0"/>
              <a:t>ONE</a:t>
            </a:r>
            <a:r>
              <a:rPr lang="en-US" dirty="0"/>
              <a:t> place</a:t>
            </a:r>
            <a:br>
              <a:rPr lang="en-US" dirty="0"/>
            </a:br>
            <a:r>
              <a:rPr lang="en-US" dirty="0"/>
              <a:t>(CVS, SVN…)</a:t>
            </a:r>
          </a:p>
          <a:p>
            <a:r>
              <a:rPr lang="en-US" dirty="0"/>
              <a:t>Users pull </a:t>
            </a:r>
            <a:r>
              <a:rPr lang="en-US" i="1" dirty="0"/>
              <a:t>working copies</a:t>
            </a:r>
          </a:p>
        </p:txBody>
      </p:sp>
      <p:sp>
        <p:nvSpPr>
          <p:cNvPr id="10" name="Zástupný symbol pro obsah 9"/>
          <p:cNvSpPr>
            <a:spLocks noGrp="1"/>
          </p:cNvSpPr>
          <p:nvPr>
            <p:ph sz="half" idx="2"/>
          </p:nvPr>
        </p:nvSpPr>
        <p:spPr>
          <a:xfrm>
            <a:off x="8842738" y="1733601"/>
            <a:ext cx="2812409" cy="4351338"/>
          </a:xfrm>
        </p:spPr>
        <p:txBody>
          <a:bodyPr>
            <a:normAutofit/>
          </a:bodyPr>
          <a:lstStyle/>
          <a:p>
            <a:r>
              <a:rPr lang="cs-CZ" dirty="0"/>
              <a:t>GitHub (GitLab) adds WebUI</a:t>
            </a:r>
            <a:r>
              <a:rPr lang="en-US" dirty="0"/>
              <a:t> to the server</a:t>
            </a:r>
            <a:endParaRPr lang="en-GB" dirty="0"/>
          </a:p>
          <a:p>
            <a:endParaRPr lang="en-GB" dirty="0"/>
          </a:p>
        </p:txBody>
      </p:sp>
      <p:sp>
        <p:nvSpPr>
          <p:cNvPr id="4" name="Obdélník 3"/>
          <p:cNvSpPr/>
          <p:nvPr/>
        </p:nvSpPr>
        <p:spPr>
          <a:xfrm>
            <a:off x="7370832" y="6597725"/>
            <a:ext cx="316824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1200" dirty="0"/>
              <a:t>https://doi.org/10.7287/peerj.preprints.3159v2</a:t>
            </a:r>
          </a:p>
        </p:txBody>
      </p:sp>
      <p:sp>
        <p:nvSpPr>
          <p:cNvPr id="5" name="Obdélník 4"/>
          <p:cNvSpPr/>
          <p:nvPr/>
        </p:nvSpPr>
        <p:spPr>
          <a:xfrm>
            <a:off x="0" y="6616709"/>
            <a:ext cx="319478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1200" dirty="0"/>
              <a:t>https://www.atlassian.com/git/tutorials/why-git</a:t>
            </a:r>
          </a:p>
        </p:txBody>
      </p:sp>
      <p:pic>
        <p:nvPicPr>
          <p:cNvPr id="9" name="Obrázek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0962" y="3604724"/>
            <a:ext cx="3652838" cy="2762250"/>
          </a:xfrm>
          <a:prstGeom prst="rect">
            <a:avLst/>
          </a:prstGeom>
        </p:spPr>
      </p:pic>
      <p:sp>
        <p:nvSpPr>
          <p:cNvPr id="6" name="Zástupný symbol pro obsah 2">
            <a:extLst>
              <a:ext uri="{FF2B5EF4-FFF2-40B4-BE49-F238E27FC236}">
                <a16:creationId xmlns:a16="http://schemas.microsoft.com/office/drawing/2014/main" id="{49E54CCB-3D12-0E9A-3AC2-9BD780702733}"/>
              </a:ext>
            </a:extLst>
          </p:cNvPr>
          <p:cNvSpPr txBox="1">
            <a:spLocks/>
          </p:cNvSpPr>
          <p:nvPr/>
        </p:nvSpPr>
        <p:spPr>
          <a:xfrm>
            <a:off x="4185695" y="1690688"/>
            <a:ext cx="4173987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cs-CZ" dirty="0"/>
              <a:t>Distributed repositories</a:t>
            </a:r>
            <a:r>
              <a:rPr lang="en-US" dirty="0"/>
              <a:t>: F</a:t>
            </a:r>
            <a:r>
              <a:rPr lang="cs-CZ" dirty="0"/>
              <a:t>ull history local</a:t>
            </a:r>
            <a:r>
              <a:rPr lang="en-US" dirty="0" err="1"/>
              <a:t>ly</a:t>
            </a:r>
            <a:r>
              <a:rPr lang="cs-CZ" dirty="0"/>
              <a:t> </a:t>
            </a:r>
            <a:br>
              <a:rPr lang="en-US" dirty="0"/>
            </a:br>
            <a:r>
              <a:rPr lang="en-US" dirty="0"/>
              <a:t>(local </a:t>
            </a:r>
            <a:r>
              <a:rPr lang="cs-CZ" dirty="0"/>
              <a:t>repositor</a:t>
            </a:r>
            <a:r>
              <a:rPr lang="en-US" dirty="0" err="1"/>
              <a:t>ies</a:t>
            </a:r>
            <a:r>
              <a:rPr lang="en-US" dirty="0"/>
              <a:t>)</a:t>
            </a:r>
          </a:p>
          <a:p>
            <a:r>
              <a:rPr lang="en-US" dirty="0"/>
              <a:t>Users synchronize their versions using pull / push</a:t>
            </a:r>
          </a:p>
          <a:p>
            <a:pPr lvl="4"/>
            <a:r>
              <a:rPr lang="en-US" dirty="0"/>
              <a:t>(Git, Mercurial…)</a:t>
            </a:r>
            <a:endParaRPr lang="cs-CZ" dirty="0"/>
          </a:p>
        </p:txBody>
      </p:sp>
      <p:pic>
        <p:nvPicPr>
          <p:cNvPr id="2050" name="Picture 2" descr="Exclamation Mark Red Clip Art at Clker.com - vector clip art online,  royalty free &amp; public domain">
            <a:extLst>
              <a:ext uri="{FF2B5EF4-FFF2-40B4-BE49-F238E27FC236}">
                <a16:creationId xmlns:a16="http://schemas.microsoft.com/office/drawing/2014/main" id="{C04DFBEF-F3EA-F941-964E-2B1E340D64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4834" y="4492185"/>
            <a:ext cx="594228" cy="5942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Exclamation Mark Red Clip Art at Clker.com - vector clip art online,  royalty free &amp; public domain">
            <a:extLst>
              <a:ext uri="{FF2B5EF4-FFF2-40B4-BE49-F238E27FC236}">
                <a16:creationId xmlns:a16="http://schemas.microsoft.com/office/drawing/2014/main" id="{C2FB5D5F-923C-B8B5-7606-43FDE70FC1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8418" y="5899204"/>
            <a:ext cx="594228" cy="5942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846220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620F94-7055-A6C3-9349-CBE22E4E1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Distributed repositories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908A99-6477-8CF7-618A-77DFF73059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Everyone retains a copy of </a:t>
            </a:r>
            <a:r>
              <a:rPr lang="en-US" b="1" dirty="0"/>
              <a:t>ALL </a:t>
            </a:r>
            <a:r>
              <a:rPr lang="en-US" dirty="0"/>
              <a:t>history</a:t>
            </a:r>
          </a:p>
          <a:p>
            <a:pPr lvl="1"/>
            <a:r>
              <a:rPr lang="en-US" dirty="0"/>
              <a:t>What has been done, can’t be undone* </a:t>
            </a:r>
          </a:p>
          <a:p>
            <a:pPr lvl="1"/>
            <a:r>
              <a:rPr lang="en-US" dirty="0"/>
              <a:t>Careful with </a:t>
            </a:r>
            <a:r>
              <a:rPr lang="en-US" b="1" dirty="0"/>
              <a:t>passwords</a:t>
            </a:r>
            <a:r>
              <a:rPr lang="en-US" dirty="0"/>
              <a:t> etc. – Internet never forgets!</a:t>
            </a:r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  <a:p>
            <a:r>
              <a:rPr lang="en-US" dirty="0"/>
              <a:t>Synchronization</a:t>
            </a:r>
          </a:p>
          <a:p>
            <a:pPr lvl="1"/>
            <a:r>
              <a:rPr lang="en-US" dirty="0"/>
              <a:t>1) Pull – update local repo</a:t>
            </a:r>
          </a:p>
          <a:p>
            <a:pPr lvl="1"/>
            <a:r>
              <a:rPr lang="en-US" dirty="0"/>
              <a:t>2) Merge </a:t>
            </a:r>
            <a:r>
              <a:rPr lang="en-US" b="1" dirty="0"/>
              <a:t>local</a:t>
            </a:r>
            <a:r>
              <a:rPr lang="en-US" dirty="0"/>
              <a:t> – sort out the </a:t>
            </a:r>
            <a:r>
              <a:rPr lang="en-US" b="1" dirty="0"/>
              <a:t>conflicts</a:t>
            </a:r>
          </a:p>
          <a:p>
            <a:pPr lvl="1"/>
            <a:r>
              <a:rPr lang="en-US" dirty="0"/>
              <a:t>3) Push – update server, conflict-free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709209F-5CAF-4F91-FF71-14A987248F63}"/>
              </a:ext>
            </a:extLst>
          </p:cNvPr>
          <p:cNvSpPr txBox="1"/>
          <p:nvPr/>
        </p:nvSpPr>
        <p:spPr>
          <a:xfrm>
            <a:off x="5240215" y="6400486"/>
            <a:ext cx="695324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2400" dirty="0"/>
              <a:t>* Terms and conditions apply – e.g. force push </a:t>
            </a:r>
            <a:r>
              <a:rPr lang="en-US" sz="2400" dirty="0" err="1"/>
              <a:t>etc</a:t>
            </a:r>
            <a:endParaRPr lang="en-US" sz="2400" dirty="0"/>
          </a:p>
        </p:txBody>
      </p:sp>
      <p:pic>
        <p:nvPicPr>
          <p:cNvPr id="3074" name="Picture 2" descr="Reminder: Jennifer Lopez wants this picture removed from the internet. :  r/funny">
            <a:extLst>
              <a:ext uri="{FF2B5EF4-FFF2-40B4-BE49-F238E27FC236}">
                <a16:creationId xmlns:a16="http://schemas.microsoft.com/office/drawing/2014/main" id="{156676EE-C13D-45F4-22FD-B954CD3A08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03493" y="1825625"/>
            <a:ext cx="2950307" cy="22100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DB659CA-A8B1-DFFF-1FF5-E97C9DCAF6C2}"/>
              </a:ext>
            </a:extLst>
          </p:cNvPr>
          <p:cNvSpPr txBox="1"/>
          <p:nvPr/>
        </p:nvSpPr>
        <p:spPr>
          <a:xfrm>
            <a:off x="8524143" y="4136819"/>
            <a:ext cx="295030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Pic of Beyonce, legally removed from the internet</a:t>
            </a:r>
          </a:p>
        </p:txBody>
      </p:sp>
    </p:spTree>
    <p:extLst>
      <p:ext uri="{BB962C8B-B14F-4D97-AF65-F5344CB8AC3E}">
        <p14:creationId xmlns:p14="http://schemas.microsoft.com/office/powerpoint/2010/main" val="18634127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GitHub</a:t>
            </a:r>
            <a:endParaRPr lang="en-GB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838200" y="1825625"/>
            <a:ext cx="4999373" cy="4351338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A public, free </a:t>
            </a:r>
            <a:r>
              <a:rPr lang="en-US" dirty="0" err="1"/>
              <a:t>git</a:t>
            </a:r>
            <a:r>
              <a:rPr lang="en-US" dirty="0"/>
              <a:t> repository </a:t>
            </a:r>
            <a:r>
              <a:rPr lang="en-US" b="1" dirty="0"/>
              <a:t>hosting</a:t>
            </a:r>
            <a:r>
              <a:rPr lang="en-US" dirty="0"/>
              <a:t> (one of many)</a:t>
            </a:r>
          </a:p>
          <a:p>
            <a:r>
              <a:rPr lang="en-US" dirty="0"/>
              <a:t>Reliable, trusted, owned by Microsoft</a:t>
            </a:r>
          </a:p>
          <a:p>
            <a:endParaRPr lang="en-US" dirty="0"/>
          </a:p>
          <a:p>
            <a:r>
              <a:rPr lang="en-US" dirty="0"/>
              <a:t>Public repositories with unlimited collaborators</a:t>
            </a:r>
          </a:p>
          <a:p>
            <a:r>
              <a:rPr lang="en-US" dirty="0"/>
              <a:t>Limited private repositories</a:t>
            </a:r>
          </a:p>
          <a:p>
            <a:endParaRPr lang="en-US" dirty="0"/>
          </a:p>
          <a:p>
            <a:r>
              <a:rPr lang="en-US" dirty="0"/>
              <a:t>We already have </a:t>
            </a:r>
            <a:r>
              <a:rPr lang="en-US" dirty="0">
                <a:hlinkClick r:id="rId2"/>
              </a:rPr>
              <a:t>https://github.com/beards-lab</a:t>
            </a:r>
            <a:r>
              <a:rPr lang="en-US" dirty="0"/>
              <a:t> </a:t>
            </a:r>
          </a:p>
          <a:p>
            <a:r>
              <a:rPr lang="en-US" dirty="0"/>
              <a:t>UMICH has enterprise license </a:t>
            </a:r>
            <a:r>
              <a:rPr lang="en-US" dirty="0">
                <a:hlinkClick r:id="rId3"/>
              </a:rPr>
              <a:t>https://its.umich.edu/communication/collaboration/github</a:t>
            </a:r>
            <a:r>
              <a:rPr lang="en-US" dirty="0"/>
              <a:t> </a:t>
            </a:r>
          </a:p>
          <a:p>
            <a:endParaRPr lang="en-US" dirty="0"/>
          </a:p>
          <a:p>
            <a:endParaRPr lang="en-GB" dirty="0"/>
          </a:p>
        </p:txBody>
      </p:sp>
      <p:pic>
        <p:nvPicPr>
          <p:cNvPr id="5" name="Obrázek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37573" y="2386366"/>
            <a:ext cx="6354427" cy="4471634"/>
          </a:xfrm>
          <a:prstGeom prst="rect">
            <a:avLst/>
          </a:prstGeom>
        </p:spPr>
      </p:pic>
      <p:pic>
        <p:nvPicPr>
          <p:cNvPr id="6" name="Obrázek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02748" y="0"/>
            <a:ext cx="1328606" cy="1272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985730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GitLab</a:t>
            </a:r>
            <a:endParaRPr lang="en-GB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Open source repository hosting, Hosted by many free and paid services</a:t>
            </a:r>
          </a:p>
          <a:p>
            <a:r>
              <a:rPr lang="en-US" dirty="0"/>
              <a:t>Unlimited private repositories, collaborators, etc..</a:t>
            </a:r>
          </a:p>
          <a:p>
            <a:endParaRPr lang="en-US" dirty="0"/>
          </a:p>
          <a:p>
            <a:r>
              <a:rPr lang="en-US" dirty="0"/>
              <a:t>UMICH used to have one, now transferred to GitHub</a:t>
            </a:r>
            <a:endParaRPr lang="en-GB" dirty="0"/>
          </a:p>
        </p:txBody>
      </p:sp>
      <p:pic>
        <p:nvPicPr>
          <p:cNvPr id="2050" name="Picture 2" descr="Press kit | GitLab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3096" y="0"/>
            <a:ext cx="4106007" cy="18132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8969292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r/git - Git Cheat Sheet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18378" y="1392573"/>
            <a:ext cx="7107178" cy="50268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Client tools</a:t>
            </a:r>
            <a:endParaRPr lang="en-GB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351338"/>
          </a:xfrm>
        </p:spPr>
        <p:txBody>
          <a:bodyPr>
            <a:normAutofit fontScale="85000" lnSpcReduction="20000"/>
          </a:bodyPr>
          <a:lstStyle/>
          <a:p>
            <a:r>
              <a:rPr lang="en-US" dirty="0">
                <a:hlinkClick r:id="rId3"/>
              </a:rPr>
              <a:t>http://git-scm.com/</a:t>
            </a:r>
            <a:br>
              <a:rPr lang="en-US" dirty="0">
                <a:hlinkClick r:id="rId3"/>
              </a:rPr>
            </a:br>
            <a:r>
              <a:rPr lang="en-US" dirty="0">
                <a:hlinkClick r:id="rId3"/>
              </a:rPr>
              <a:t>downloads/</a:t>
            </a:r>
            <a:r>
              <a:rPr lang="en-US" dirty="0" err="1">
                <a:hlinkClick r:id="rId3"/>
              </a:rPr>
              <a:t>guis</a:t>
            </a:r>
            <a:r>
              <a:rPr lang="en-US" dirty="0"/>
              <a:t> </a:t>
            </a:r>
          </a:p>
          <a:p>
            <a:r>
              <a:rPr lang="en-US" dirty="0"/>
              <a:t>Command line?</a:t>
            </a:r>
          </a:p>
          <a:p>
            <a:pPr lvl="1"/>
            <a:r>
              <a:rPr lang="en-US" dirty="0">
                <a:hlinkClick r:id="rId4"/>
              </a:rPr>
              <a:t>https://git-scm.com/</a:t>
            </a:r>
            <a:r>
              <a:rPr lang="en-US" dirty="0"/>
              <a:t> </a:t>
            </a:r>
          </a:p>
          <a:p>
            <a:r>
              <a:rPr lang="en-US" dirty="0"/>
              <a:t>Windows</a:t>
            </a:r>
          </a:p>
          <a:p>
            <a:pPr lvl="1"/>
            <a:r>
              <a:rPr lang="en-US" dirty="0" err="1"/>
              <a:t>TortoiseGit</a:t>
            </a:r>
            <a:r>
              <a:rPr lang="en-US" dirty="0"/>
              <a:t> + </a:t>
            </a:r>
            <a:r>
              <a:rPr lang="en-US" dirty="0" err="1"/>
              <a:t>Git</a:t>
            </a:r>
            <a:r>
              <a:rPr lang="en-US" dirty="0"/>
              <a:t> for Windows </a:t>
            </a:r>
            <a:r>
              <a:rPr lang="en-US" dirty="0">
                <a:hlinkClick r:id="rId5"/>
              </a:rPr>
              <a:t>https://tortoisegit.org/</a:t>
            </a:r>
            <a:r>
              <a:rPr lang="en-US" dirty="0"/>
              <a:t> </a:t>
            </a:r>
          </a:p>
          <a:p>
            <a:pPr lvl="1"/>
            <a:r>
              <a:rPr lang="en-US" b="1" dirty="0"/>
              <a:t>GitHub Desktop </a:t>
            </a:r>
            <a:r>
              <a:rPr lang="en-US" b="1" dirty="0">
                <a:hlinkClick r:id="rId6"/>
              </a:rPr>
              <a:t>https://desktop.github.com/</a:t>
            </a:r>
            <a:r>
              <a:rPr lang="en-US" b="1" dirty="0"/>
              <a:t> </a:t>
            </a:r>
          </a:p>
          <a:p>
            <a:r>
              <a:rPr lang="en-US" dirty="0" err="1"/>
              <a:t>MacOs</a:t>
            </a:r>
            <a:endParaRPr lang="en-US" dirty="0"/>
          </a:p>
          <a:p>
            <a:pPr lvl="1"/>
            <a:r>
              <a:rPr lang="en-US" b="1" dirty="0"/>
              <a:t>GitHub Desktop </a:t>
            </a:r>
            <a:r>
              <a:rPr lang="en-US" b="1" dirty="0">
                <a:hlinkClick r:id="rId6"/>
              </a:rPr>
              <a:t>https://desktop.github.com/</a:t>
            </a:r>
            <a:r>
              <a:rPr lang="en-US" b="1" dirty="0"/>
              <a:t> </a:t>
            </a:r>
          </a:p>
          <a:p>
            <a:pPr lvl="1"/>
            <a:r>
              <a:rPr lang="en-US" dirty="0"/>
              <a:t>…</a:t>
            </a:r>
          </a:p>
          <a:p>
            <a:r>
              <a:rPr lang="en-US" i="1" dirty="0"/>
              <a:t>Integrated into </a:t>
            </a:r>
            <a:r>
              <a:rPr lang="en-US" i="1" dirty="0" err="1"/>
              <a:t>Matlab</a:t>
            </a:r>
            <a:r>
              <a:rPr lang="en-US" i="1" dirty="0"/>
              <a:t>, VS Code…</a:t>
            </a:r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6090602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Process</a:t>
            </a:r>
            <a:endParaRPr lang="en-GB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707850"/>
          </a:xfrm>
        </p:spPr>
        <p:txBody>
          <a:bodyPr/>
          <a:lstStyle/>
          <a:p>
            <a:r>
              <a:rPr lang="en-US" dirty="0"/>
              <a:t>DO THIS AS OFTEN AS POSSIBLE</a:t>
            </a:r>
            <a:endParaRPr lang="en-GB" dirty="0"/>
          </a:p>
        </p:txBody>
      </p:sp>
      <p:sp>
        <p:nvSpPr>
          <p:cNvPr id="4" name="Vývojový diagram: alternativní postup 3"/>
          <p:cNvSpPr/>
          <p:nvPr/>
        </p:nvSpPr>
        <p:spPr>
          <a:xfrm>
            <a:off x="381414" y="3925539"/>
            <a:ext cx="1451296" cy="763398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File system</a:t>
            </a:r>
            <a:endParaRPr lang="en-GB" dirty="0"/>
          </a:p>
        </p:txBody>
      </p:sp>
      <p:sp>
        <p:nvSpPr>
          <p:cNvPr id="5" name="Vývojový diagram: alternativní postup 4"/>
          <p:cNvSpPr/>
          <p:nvPr/>
        </p:nvSpPr>
        <p:spPr>
          <a:xfrm>
            <a:off x="5412298" y="3929988"/>
            <a:ext cx="1451296" cy="763398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Local</a:t>
            </a:r>
          </a:p>
          <a:p>
            <a:pPr algn="ctr"/>
            <a:r>
              <a:rPr lang="en-US" dirty="0"/>
              <a:t>Repository</a:t>
            </a:r>
          </a:p>
        </p:txBody>
      </p:sp>
      <p:sp>
        <p:nvSpPr>
          <p:cNvPr id="6" name="Vývojový diagram: alternativní postup 5"/>
          <p:cNvSpPr/>
          <p:nvPr/>
        </p:nvSpPr>
        <p:spPr>
          <a:xfrm>
            <a:off x="9902504" y="3925539"/>
            <a:ext cx="1451296" cy="763398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Remote</a:t>
            </a:r>
          </a:p>
          <a:p>
            <a:pPr algn="ctr"/>
            <a:r>
              <a:rPr lang="en-US" dirty="0"/>
              <a:t>Repository</a:t>
            </a:r>
          </a:p>
        </p:txBody>
      </p:sp>
      <p:pic>
        <p:nvPicPr>
          <p:cNvPr id="7" name="Obrázek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107" y="2933256"/>
            <a:ext cx="805911" cy="805911"/>
          </a:xfrm>
          <a:prstGeom prst="rect">
            <a:avLst/>
          </a:prstGeom>
        </p:spPr>
      </p:pic>
      <p:pic>
        <p:nvPicPr>
          <p:cNvPr id="8" name="Obrázek 7"/>
          <p:cNvPicPr>
            <a:picLocks noChangeAspect="1"/>
          </p:cNvPicPr>
          <p:nvPr/>
        </p:nvPicPr>
        <p:blipFill rotWithShape="1">
          <a:blip r:embed="rId3"/>
          <a:srcRect l="-7766" t="19009" r="-1"/>
          <a:stretch/>
        </p:blipFill>
        <p:spPr>
          <a:xfrm>
            <a:off x="5369370" y="2295152"/>
            <a:ext cx="1537150" cy="1592860"/>
          </a:xfrm>
          <a:prstGeom prst="rect">
            <a:avLst/>
          </a:prstGeom>
        </p:spPr>
      </p:pic>
      <p:pic>
        <p:nvPicPr>
          <p:cNvPr id="9" name="Obrázek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80391" y="2969988"/>
            <a:ext cx="958617" cy="918024"/>
          </a:xfrm>
          <a:prstGeom prst="rect">
            <a:avLst/>
          </a:prstGeom>
        </p:spPr>
      </p:pic>
      <p:cxnSp>
        <p:nvCxnSpPr>
          <p:cNvPr id="22" name="Zakřivená spojnice 21"/>
          <p:cNvCxnSpPr>
            <a:stCxn id="5" idx="2"/>
            <a:endCxn id="6" idx="2"/>
          </p:cNvCxnSpPr>
          <p:nvPr/>
        </p:nvCxnSpPr>
        <p:spPr>
          <a:xfrm rot="5400000" flipH="1" flipV="1">
            <a:off x="8380824" y="2446059"/>
            <a:ext cx="4449" cy="4490206"/>
          </a:xfrm>
          <a:prstGeom prst="curvedConnector3">
            <a:avLst>
              <a:gd name="adj1" fmla="val -1268067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Přímá spojnice se šipkou 30"/>
          <p:cNvCxnSpPr>
            <a:stCxn id="6" idx="1"/>
            <a:endCxn id="5" idx="3"/>
          </p:cNvCxnSpPr>
          <p:nvPr/>
        </p:nvCxnSpPr>
        <p:spPr>
          <a:xfrm flipH="1">
            <a:off x="6863594" y="4307238"/>
            <a:ext cx="3038910" cy="44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Obdélník 37"/>
          <p:cNvSpPr/>
          <p:nvPr/>
        </p:nvSpPr>
        <p:spPr>
          <a:xfrm>
            <a:off x="3036354" y="3925539"/>
            <a:ext cx="75961" cy="76339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40" name="Přímá spojnice se šipkou 39"/>
          <p:cNvCxnSpPr>
            <a:stCxn id="38" idx="3"/>
            <a:endCxn id="5" idx="1"/>
          </p:cNvCxnSpPr>
          <p:nvPr/>
        </p:nvCxnSpPr>
        <p:spPr>
          <a:xfrm>
            <a:off x="3112315" y="4307238"/>
            <a:ext cx="2299983" cy="4449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2" name="Přímá spojnice se šipkou 41"/>
          <p:cNvCxnSpPr>
            <a:stCxn id="4" idx="3"/>
            <a:endCxn id="38" idx="1"/>
          </p:cNvCxnSpPr>
          <p:nvPr/>
        </p:nvCxnSpPr>
        <p:spPr>
          <a:xfrm>
            <a:off x="1832710" y="4307238"/>
            <a:ext cx="120364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ovéPole 43"/>
          <p:cNvSpPr txBox="1"/>
          <p:nvPr/>
        </p:nvSpPr>
        <p:spPr>
          <a:xfrm>
            <a:off x="2094454" y="4307238"/>
            <a:ext cx="6976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Stage</a:t>
            </a:r>
            <a:endParaRPr lang="en-GB" dirty="0"/>
          </a:p>
        </p:txBody>
      </p:sp>
      <p:sp>
        <p:nvSpPr>
          <p:cNvPr id="45" name="TextovéPole 44"/>
          <p:cNvSpPr txBox="1"/>
          <p:nvPr/>
        </p:nvSpPr>
        <p:spPr>
          <a:xfrm>
            <a:off x="3507131" y="4307238"/>
            <a:ext cx="153439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Commit</a:t>
            </a:r>
            <a:endParaRPr lang="en-GB" sz="3200" b="1" dirty="0"/>
          </a:p>
        </p:txBody>
      </p:sp>
      <p:sp>
        <p:nvSpPr>
          <p:cNvPr id="46" name="TextovéPole 45"/>
          <p:cNvSpPr txBox="1"/>
          <p:nvPr/>
        </p:nvSpPr>
        <p:spPr>
          <a:xfrm>
            <a:off x="7977226" y="4319605"/>
            <a:ext cx="530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Pull</a:t>
            </a:r>
            <a:endParaRPr lang="en-GB" dirty="0"/>
          </a:p>
        </p:txBody>
      </p:sp>
      <p:sp>
        <p:nvSpPr>
          <p:cNvPr id="50" name="TextovéPole 49"/>
          <p:cNvSpPr txBox="1"/>
          <p:nvPr/>
        </p:nvSpPr>
        <p:spPr>
          <a:xfrm>
            <a:off x="8019867" y="5267670"/>
            <a:ext cx="6367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Push</a:t>
            </a:r>
            <a:endParaRPr lang="en-GB" dirty="0"/>
          </a:p>
        </p:txBody>
      </p:sp>
      <p:sp>
        <p:nvSpPr>
          <p:cNvPr id="51" name="Vývojový diagram: alternativní postup 50"/>
          <p:cNvSpPr/>
          <p:nvPr/>
        </p:nvSpPr>
        <p:spPr>
          <a:xfrm>
            <a:off x="243281" y="2248250"/>
            <a:ext cx="7038363" cy="2793533"/>
          </a:xfrm>
          <a:prstGeom prst="flowChartAlternateProcess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2" name="Zástupný symbol pro obsah 2"/>
          <p:cNvSpPr txBox="1">
            <a:spLocks/>
          </p:cNvSpPr>
          <p:nvPr/>
        </p:nvSpPr>
        <p:spPr>
          <a:xfrm>
            <a:off x="6830037" y="5637001"/>
            <a:ext cx="5229691" cy="1040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Do this for collaboration and backup</a:t>
            </a:r>
            <a:endParaRPr lang="en-GB" dirty="0"/>
          </a:p>
        </p:txBody>
      </p:sp>
      <p:pic>
        <p:nvPicPr>
          <p:cNvPr id="53" name="Obrázek 5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92753" y="99218"/>
            <a:ext cx="2466975" cy="1857375"/>
          </a:xfrm>
          <a:prstGeom prst="rect">
            <a:avLst/>
          </a:prstGeom>
        </p:spPr>
      </p:pic>
      <p:pic>
        <p:nvPicPr>
          <p:cNvPr id="3074" name="Picture 2" descr="Cloud Data Center Specialty Benefits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28267" y="3070532"/>
            <a:ext cx="1837606" cy="10336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File:Gnome-fs-server.svg - Wikipedia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17022" y="2907728"/>
            <a:ext cx="1022260" cy="10222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6563466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err="1"/>
              <a:t>Process</a:t>
            </a:r>
            <a:r>
              <a:rPr lang="cs-CZ" dirty="0"/>
              <a:t> - </a:t>
            </a:r>
            <a:r>
              <a:rPr lang="cs-CZ" dirty="0" err="1"/>
              <a:t>stage</a:t>
            </a:r>
            <a:endParaRPr lang="en-GB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 err="1"/>
              <a:t>Selecting</a:t>
            </a:r>
            <a:r>
              <a:rPr lang="cs-CZ" dirty="0"/>
              <a:t> </a:t>
            </a:r>
            <a:r>
              <a:rPr lang="cs-CZ" dirty="0" err="1"/>
              <a:t>changes</a:t>
            </a:r>
            <a:endParaRPr lang="cs-CZ" dirty="0"/>
          </a:p>
          <a:p>
            <a:pPr lvl="1"/>
            <a:r>
              <a:rPr lang="cs-CZ" dirty="0" err="1"/>
              <a:t>Adding</a:t>
            </a:r>
            <a:r>
              <a:rPr lang="cs-CZ" dirty="0"/>
              <a:t> </a:t>
            </a:r>
            <a:r>
              <a:rPr lang="cs-CZ" dirty="0" err="1"/>
              <a:t>new</a:t>
            </a:r>
            <a:r>
              <a:rPr lang="cs-CZ" dirty="0"/>
              <a:t> </a:t>
            </a:r>
            <a:r>
              <a:rPr lang="cs-CZ" dirty="0" err="1"/>
              <a:t>files</a:t>
            </a:r>
            <a:endParaRPr lang="cs-CZ" dirty="0"/>
          </a:p>
          <a:p>
            <a:pPr lvl="1"/>
            <a:r>
              <a:rPr lang="cs-CZ" dirty="0" err="1"/>
              <a:t>Selecting</a:t>
            </a:r>
            <a:r>
              <a:rPr lang="cs-CZ" dirty="0"/>
              <a:t> </a:t>
            </a:r>
            <a:r>
              <a:rPr lang="cs-CZ" dirty="0" err="1"/>
              <a:t>changed</a:t>
            </a:r>
            <a:r>
              <a:rPr lang="cs-CZ" dirty="0"/>
              <a:t> </a:t>
            </a:r>
            <a:r>
              <a:rPr lang="cs-CZ" dirty="0" err="1"/>
              <a:t>files</a:t>
            </a:r>
            <a:r>
              <a:rPr lang="cs-CZ" dirty="0"/>
              <a:t> (</a:t>
            </a:r>
            <a:r>
              <a:rPr lang="cs-CZ" dirty="0" err="1"/>
              <a:t>or</a:t>
            </a:r>
            <a:r>
              <a:rPr lang="cs-CZ" dirty="0"/>
              <a:t> </a:t>
            </a:r>
            <a:r>
              <a:rPr lang="cs-CZ" dirty="0" err="1"/>
              <a:t>parts</a:t>
            </a:r>
            <a:r>
              <a:rPr lang="cs-CZ" dirty="0"/>
              <a:t>)</a:t>
            </a:r>
            <a:endParaRPr lang="en-GB" dirty="0"/>
          </a:p>
        </p:txBody>
      </p:sp>
      <p:pic>
        <p:nvPicPr>
          <p:cNvPr id="4" name="Obrázek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0"/>
            <a:ext cx="6096000" cy="419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76895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Process – </a:t>
            </a:r>
            <a:r>
              <a:rPr lang="en-US" dirty="0"/>
              <a:t>COMMIT</a:t>
            </a:r>
            <a:endParaRPr lang="en-GB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351338"/>
          </a:xfrm>
        </p:spPr>
        <p:txBody>
          <a:bodyPr/>
          <a:lstStyle/>
          <a:p>
            <a:r>
              <a:rPr lang="en-US" dirty="0"/>
              <a:t>Add a commit summary*</a:t>
            </a:r>
          </a:p>
          <a:p>
            <a:r>
              <a:rPr lang="cs-CZ" dirty="0" err="1"/>
              <a:t>Commiting</a:t>
            </a:r>
            <a:r>
              <a:rPr lang="cs-CZ" dirty="0"/>
              <a:t> </a:t>
            </a:r>
            <a:r>
              <a:rPr lang="cs-CZ" dirty="0" err="1"/>
              <a:t>the</a:t>
            </a:r>
            <a:r>
              <a:rPr lang="cs-CZ" dirty="0"/>
              <a:t> </a:t>
            </a:r>
            <a:r>
              <a:rPr lang="cs-CZ" dirty="0" err="1"/>
              <a:t>changes</a:t>
            </a:r>
            <a:r>
              <a:rPr lang="cs-CZ" dirty="0"/>
              <a:t> </a:t>
            </a:r>
            <a:r>
              <a:rPr lang="cs-CZ" dirty="0" err="1"/>
              <a:t>into</a:t>
            </a:r>
            <a:r>
              <a:rPr lang="cs-CZ" dirty="0"/>
              <a:t> LOCAL </a:t>
            </a:r>
            <a:r>
              <a:rPr lang="cs-CZ" dirty="0" err="1"/>
              <a:t>repository</a:t>
            </a:r>
            <a:endParaRPr lang="en-US" dirty="0"/>
          </a:p>
          <a:p>
            <a:pPr lvl="1"/>
            <a:r>
              <a:rPr lang="en-US" dirty="0"/>
              <a:t>Safe checkpoint</a:t>
            </a:r>
            <a:endParaRPr lang="cs-CZ" dirty="0"/>
          </a:p>
          <a:p>
            <a:pPr lvl="1"/>
            <a:r>
              <a:rPr lang="cs-CZ" dirty="0"/>
              <a:t>On top </a:t>
            </a:r>
            <a:r>
              <a:rPr lang="cs-CZ" dirty="0" err="1"/>
              <a:t>of</a:t>
            </a:r>
            <a:r>
              <a:rPr lang="cs-CZ" dirty="0"/>
              <a:t> </a:t>
            </a:r>
            <a:r>
              <a:rPr lang="cs-CZ" dirty="0" err="1"/>
              <a:t>current</a:t>
            </a:r>
            <a:r>
              <a:rPr lang="cs-CZ" dirty="0"/>
              <a:t> BRANCH</a:t>
            </a:r>
          </a:p>
          <a:p>
            <a:pPr lvl="1"/>
            <a:r>
              <a:rPr lang="cs-CZ" dirty="0" err="1"/>
              <a:t>Or</a:t>
            </a:r>
            <a:r>
              <a:rPr lang="cs-CZ" dirty="0"/>
              <a:t> to a NEW </a:t>
            </a:r>
            <a:r>
              <a:rPr lang="cs-CZ" dirty="0" err="1"/>
              <a:t>branch</a:t>
            </a:r>
            <a:endParaRPr lang="en-US" dirty="0"/>
          </a:p>
          <a:p>
            <a:r>
              <a:rPr lang="en-US" dirty="0"/>
              <a:t>Roll back to any previous commit</a:t>
            </a:r>
          </a:p>
          <a:p>
            <a:r>
              <a:rPr lang="en-US" dirty="0"/>
              <a:t>Compare with any previous commit</a:t>
            </a:r>
            <a:endParaRPr lang="en-GB" dirty="0"/>
          </a:p>
        </p:txBody>
      </p:sp>
      <p:pic>
        <p:nvPicPr>
          <p:cNvPr id="2050" name="Picture 2" descr="https://nvie.com/img/hotfix-branches@2x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96044" y="1631916"/>
            <a:ext cx="3876624" cy="52260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3941234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E03623-3F1B-962D-4193-7EB6223B61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Process – COMMIT = safe checkpoint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1E8207-0A70-E4C4-6970-0FAC0415C57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DO NOT be afraid of dumb commits</a:t>
            </a:r>
          </a:p>
          <a:p>
            <a:endParaRPr lang="en-US" dirty="0"/>
          </a:p>
          <a:p>
            <a:r>
              <a:rPr lang="en-US" dirty="0"/>
              <a:t>All of them might be useful checkpoints</a:t>
            </a:r>
          </a:p>
          <a:p>
            <a:r>
              <a:rPr lang="en-US" dirty="0"/>
              <a:t>All opensource projects do that – </a:t>
            </a:r>
            <a:r>
              <a:rPr lang="en-US" b="1" dirty="0"/>
              <a:t>it is no shame</a:t>
            </a:r>
          </a:p>
          <a:p>
            <a:endParaRPr lang="en-US" dirty="0"/>
          </a:p>
          <a:p>
            <a:r>
              <a:rPr lang="en-US" dirty="0"/>
              <a:t>You can use </a:t>
            </a:r>
            <a:r>
              <a:rPr lang="en-US" i="1" dirty="0"/>
              <a:t>squash</a:t>
            </a:r>
            <a:r>
              <a:rPr lang="en-US" dirty="0"/>
              <a:t> before pushing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0F382A3B-2E13-2B16-EE1E-BCAE1C8B2C7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7876588" y="2320575"/>
            <a:ext cx="3853293" cy="4351338"/>
          </a:xfr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3924D49-9BAB-7470-6D1B-9088FFBC4E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46672" y="127082"/>
            <a:ext cx="2334936" cy="1698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207998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DA079D-6988-592D-E6EA-3D39AD12CF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Process – COMMIT: </a:t>
            </a:r>
            <a:r>
              <a:rPr lang="en-US" b="1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58EC40-7FE8-2E08-047C-0C35321088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Commit message (Summary) required</a:t>
            </a:r>
          </a:p>
          <a:p>
            <a:r>
              <a:rPr lang="en-US" dirty="0"/>
              <a:t>Try to be specific and concise,</a:t>
            </a:r>
            <a:br>
              <a:rPr lang="en-US" dirty="0"/>
            </a:br>
            <a:r>
              <a:rPr lang="en-US" dirty="0"/>
              <a:t>your future self will thank you</a:t>
            </a:r>
          </a:p>
          <a:p>
            <a:endParaRPr lang="en-US" dirty="0"/>
          </a:p>
          <a:p>
            <a:r>
              <a:rPr lang="en-US" dirty="0"/>
              <a:t>E.g. </a:t>
            </a:r>
            <a:br>
              <a:rPr lang="en-US" dirty="0"/>
            </a:br>
            <a:r>
              <a:rPr lang="en-US" i="1" dirty="0"/>
              <a:t>Fix typo in ReadMe</a:t>
            </a:r>
            <a:br>
              <a:rPr lang="en-US" i="1" dirty="0"/>
            </a:br>
            <a:r>
              <a:rPr lang="en-US" i="1" dirty="0"/>
              <a:t>Adding project1 data files</a:t>
            </a:r>
            <a:br>
              <a:rPr lang="en-US" i="1" dirty="0"/>
            </a:br>
            <a:r>
              <a:rPr lang="en-US" i="1" dirty="0"/>
              <a:t>Fix crashing during simulation</a:t>
            </a:r>
          </a:p>
          <a:p>
            <a:endParaRPr lang="en-US" dirty="0"/>
          </a:p>
          <a:p>
            <a:r>
              <a:rPr lang="en-US" dirty="0"/>
              <a:t>Use Description to provide further context, e.g.</a:t>
            </a:r>
            <a:br>
              <a:rPr lang="en-US" dirty="0"/>
            </a:br>
            <a:r>
              <a:rPr lang="en-US" i="1" dirty="0"/>
              <a:t>Setting step size &gt; 0.2 results in a crash</a:t>
            </a:r>
          </a:p>
          <a:p>
            <a:pPr lvl="1"/>
            <a:endParaRPr lang="en-US" dirty="0"/>
          </a:p>
        </p:txBody>
      </p:sp>
      <p:pic>
        <p:nvPicPr>
          <p:cNvPr id="3076" name="Picture 4" descr="Use Conventional Commits for Better Commit Messages">
            <a:extLst>
              <a:ext uri="{FF2B5EF4-FFF2-40B4-BE49-F238E27FC236}">
                <a16:creationId xmlns:a16="http://schemas.microsoft.com/office/drawing/2014/main" id="{F672D007-8D33-3518-A833-C06586909E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87152" y="167054"/>
            <a:ext cx="3470031" cy="26025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8" name="Picture 2" descr="NO PATRICK $3 &quot;FIX&quot; IS NO COMMIT APPROPRIATE, COMMIT MESSAGE@ - iFunny  Brazil">
            <a:extLst>
              <a:ext uri="{FF2B5EF4-FFF2-40B4-BE49-F238E27FC236}">
                <a16:creationId xmlns:a16="http://schemas.microsoft.com/office/drawing/2014/main" id="{F61A05C3-F938-1885-072C-EDA7FAC2E1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67041" y="3518188"/>
            <a:ext cx="2699239" cy="27937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237580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err="1"/>
              <a:t>Process</a:t>
            </a:r>
            <a:r>
              <a:rPr lang="cs-CZ" dirty="0"/>
              <a:t> - </a:t>
            </a:r>
            <a:r>
              <a:rPr lang="en-US" dirty="0"/>
              <a:t>PUSH</a:t>
            </a:r>
            <a:endParaRPr lang="en-GB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 err="1"/>
              <a:t>Pushing</a:t>
            </a:r>
            <a:r>
              <a:rPr lang="cs-CZ" dirty="0"/>
              <a:t> </a:t>
            </a:r>
            <a:r>
              <a:rPr lang="cs-CZ" dirty="0" err="1"/>
              <a:t>our</a:t>
            </a:r>
            <a:r>
              <a:rPr lang="cs-CZ" dirty="0"/>
              <a:t> LOCAL </a:t>
            </a:r>
            <a:r>
              <a:rPr lang="cs-CZ" dirty="0" err="1"/>
              <a:t>repository</a:t>
            </a:r>
            <a:r>
              <a:rPr lang="cs-CZ" dirty="0"/>
              <a:t> to </a:t>
            </a:r>
            <a:r>
              <a:rPr lang="cs-CZ" dirty="0" err="1"/>
              <a:t>the</a:t>
            </a:r>
            <a:r>
              <a:rPr lang="cs-CZ" dirty="0"/>
              <a:t> REMOTE </a:t>
            </a:r>
            <a:r>
              <a:rPr lang="cs-CZ" dirty="0" err="1"/>
              <a:t>repository</a:t>
            </a:r>
            <a:endParaRPr lang="cs-CZ" dirty="0"/>
          </a:p>
          <a:p>
            <a:pPr lvl="1"/>
            <a:r>
              <a:rPr lang="en-US" dirty="0"/>
              <a:t>Could have more remotes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What if the REMOTE version is newer?</a:t>
            </a:r>
          </a:p>
          <a:p>
            <a:pPr lvl="2"/>
            <a:r>
              <a:rPr lang="en-US" dirty="0"/>
              <a:t>Need to </a:t>
            </a:r>
            <a:r>
              <a:rPr lang="en-US" b="1" dirty="0"/>
              <a:t>pull</a:t>
            </a:r>
            <a:r>
              <a:rPr lang="en-US" dirty="0"/>
              <a:t> (aka fetch) first</a:t>
            </a:r>
          </a:p>
          <a:p>
            <a:pPr lvl="2"/>
            <a:r>
              <a:rPr lang="en-US" dirty="0"/>
              <a:t>Merge and sort the conflicts on OUR side</a:t>
            </a:r>
            <a:endParaRPr lang="cs-CZ" dirty="0"/>
          </a:p>
        </p:txBody>
      </p:sp>
      <p:sp>
        <p:nvSpPr>
          <p:cNvPr id="4" name="Vývojový diagram: alternativní postup 4">
            <a:extLst>
              <a:ext uri="{FF2B5EF4-FFF2-40B4-BE49-F238E27FC236}">
                <a16:creationId xmlns:a16="http://schemas.microsoft.com/office/drawing/2014/main" id="{0BB90BA3-7D6B-42C9-4E23-667BE66B6947}"/>
              </a:ext>
            </a:extLst>
          </p:cNvPr>
          <p:cNvSpPr/>
          <p:nvPr/>
        </p:nvSpPr>
        <p:spPr>
          <a:xfrm>
            <a:off x="6096000" y="4966853"/>
            <a:ext cx="1451296" cy="763398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Local</a:t>
            </a:r>
          </a:p>
          <a:p>
            <a:pPr algn="ctr"/>
            <a:r>
              <a:rPr lang="en-US" dirty="0"/>
              <a:t>Repository</a:t>
            </a:r>
          </a:p>
        </p:txBody>
      </p:sp>
      <p:sp>
        <p:nvSpPr>
          <p:cNvPr id="5" name="Vývojový diagram: alternativní postup 5">
            <a:extLst>
              <a:ext uri="{FF2B5EF4-FFF2-40B4-BE49-F238E27FC236}">
                <a16:creationId xmlns:a16="http://schemas.microsoft.com/office/drawing/2014/main" id="{DA973434-C140-7398-FE1E-1CBE68B8758E}"/>
              </a:ext>
            </a:extLst>
          </p:cNvPr>
          <p:cNvSpPr/>
          <p:nvPr/>
        </p:nvSpPr>
        <p:spPr>
          <a:xfrm>
            <a:off x="10235143" y="4962404"/>
            <a:ext cx="1451296" cy="763398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Remote</a:t>
            </a:r>
          </a:p>
          <a:p>
            <a:pPr algn="ctr"/>
            <a:r>
              <a:rPr lang="en-US" dirty="0"/>
              <a:t>Repository</a:t>
            </a:r>
          </a:p>
        </p:txBody>
      </p:sp>
      <p:cxnSp>
        <p:nvCxnSpPr>
          <p:cNvPr id="6" name="Zakřivená spojnice 21">
            <a:extLst>
              <a:ext uri="{FF2B5EF4-FFF2-40B4-BE49-F238E27FC236}">
                <a16:creationId xmlns:a16="http://schemas.microsoft.com/office/drawing/2014/main" id="{8E20B045-CC97-0B5F-5D8C-1C4BB8F877F4}"/>
              </a:ext>
            </a:extLst>
          </p:cNvPr>
          <p:cNvCxnSpPr>
            <a:stCxn id="4" idx="2"/>
            <a:endCxn id="5" idx="2"/>
          </p:cNvCxnSpPr>
          <p:nvPr/>
        </p:nvCxnSpPr>
        <p:spPr>
          <a:xfrm rot="5400000" flipH="1" flipV="1">
            <a:off x="8888994" y="3658455"/>
            <a:ext cx="4449" cy="4139143"/>
          </a:xfrm>
          <a:prstGeom prst="curvedConnector3">
            <a:avLst>
              <a:gd name="adj1" fmla="val -12662081"/>
            </a:avLst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Přímá spojnice se šipkou 30">
            <a:extLst>
              <a:ext uri="{FF2B5EF4-FFF2-40B4-BE49-F238E27FC236}">
                <a16:creationId xmlns:a16="http://schemas.microsoft.com/office/drawing/2014/main" id="{21E332CA-65D9-7D08-7626-155A13334A4D}"/>
              </a:ext>
            </a:extLst>
          </p:cNvPr>
          <p:cNvCxnSpPr>
            <a:stCxn id="5" idx="1"/>
            <a:endCxn id="4" idx="3"/>
          </p:cNvCxnSpPr>
          <p:nvPr/>
        </p:nvCxnSpPr>
        <p:spPr>
          <a:xfrm flipH="1">
            <a:off x="7547296" y="5344103"/>
            <a:ext cx="2687847" cy="44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ovéPole 45">
            <a:extLst>
              <a:ext uri="{FF2B5EF4-FFF2-40B4-BE49-F238E27FC236}">
                <a16:creationId xmlns:a16="http://schemas.microsoft.com/office/drawing/2014/main" id="{BEFC8A9B-8A0F-BA5C-47FF-150D716AD45C}"/>
              </a:ext>
            </a:extLst>
          </p:cNvPr>
          <p:cNvSpPr txBox="1"/>
          <p:nvPr/>
        </p:nvSpPr>
        <p:spPr>
          <a:xfrm>
            <a:off x="8660928" y="5356470"/>
            <a:ext cx="530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Pull</a:t>
            </a:r>
            <a:endParaRPr lang="en-GB" dirty="0"/>
          </a:p>
        </p:txBody>
      </p:sp>
      <p:sp>
        <p:nvSpPr>
          <p:cNvPr id="9" name="TextovéPole 49">
            <a:extLst>
              <a:ext uri="{FF2B5EF4-FFF2-40B4-BE49-F238E27FC236}">
                <a16:creationId xmlns:a16="http://schemas.microsoft.com/office/drawing/2014/main" id="{38A02B94-C3D3-D1DA-CAAE-96D0A79ED3F0}"/>
              </a:ext>
            </a:extLst>
          </p:cNvPr>
          <p:cNvSpPr txBox="1"/>
          <p:nvPr/>
        </p:nvSpPr>
        <p:spPr>
          <a:xfrm>
            <a:off x="8703569" y="6304535"/>
            <a:ext cx="6367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Push</a:t>
            </a:r>
            <a:endParaRPr lang="en-GB" dirty="0"/>
          </a:p>
        </p:txBody>
      </p:sp>
      <p:pic>
        <p:nvPicPr>
          <p:cNvPr id="10" name="Obrázek 8">
            <a:extLst>
              <a:ext uri="{FF2B5EF4-FFF2-40B4-BE49-F238E27FC236}">
                <a16:creationId xmlns:a16="http://schemas.microsoft.com/office/drawing/2014/main" id="{62DECA78-88DF-8106-196B-0DCCAB1A07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3967" y="3881932"/>
            <a:ext cx="958617" cy="918024"/>
          </a:xfrm>
          <a:prstGeom prst="rect">
            <a:avLst/>
          </a:prstGeom>
        </p:spPr>
      </p:pic>
      <p:pic>
        <p:nvPicPr>
          <p:cNvPr id="11" name="Picture 2" descr="Cloud Data Center Specialty Benefits">
            <a:extLst>
              <a:ext uri="{FF2B5EF4-FFF2-40B4-BE49-F238E27FC236}">
                <a16:creationId xmlns:a16="http://schemas.microsoft.com/office/drawing/2014/main" id="{C440FCAE-6A03-B832-2259-9850D04398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91843" y="3982476"/>
            <a:ext cx="1837606" cy="10336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4" descr="File:Gnome-fs-server.svg - Wikipedia">
            <a:extLst>
              <a:ext uri="{FF2B5EF4-FFF2-40B4-BE49-F238E27FC236}">
                <a16:creationId xmlns:a16="http://schemas.microsoft.com/office/drawing/2014/main" id="{3D4AE15F-B40B-9FF5-D5E1-DCE92EF2B4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80598" y="3819672"/>
            <a:ext cx="1022260" cy="10222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663521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740013-1593-0E19-5985-7D628A9A43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BA2BF86-860D-5AD8-A6FC-26A74D0427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Process - </a:t>
            </a:r>
            <a:r>
              <a:rPr lang="en-US" dirty="0"/>
              <a:t>PULL</a:t>
            </a:r>
            <a:endParaRPr lang="en-GB" dirty="0"/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334DAFDC-1568-48BB-EECB-EA4D4B8847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Pulling</a:t>
            </a:r>
            <a:r>
              <a:rPr lang="cs-CZ" dirty="0"/>
              <a:t> </a:t>
            </a:r>
            <a:r>
              <a:rPr lang="en-US" dirty="0"/>
              <a:t>from </a:t>
            </a:r>
            <a:r>
              <a:rPr lang="cs-CZ" dirty="0"/>
              <a:t>the REMOTE </a:t>
            </a:r>
            <a:r>
              <a:rPr lang="en-US" dirty="0"/>
              <a:t>server into </a:t>
            </a:r>
            <a:r>
              <a:rPr lang="cs-CZ" dirty="0"/>
              <a:t>LOCAL repository</a:t>
            </a:r>
            <a:r>
              <a:rPr lang="en-US" dirty="0"/>
              <a:t>, updating the files</a:t>
            </a:r>
          </a:p>
          <a:p>
            <a:pPr lvl="1"/>
            <a:r>
              <a:rPr lang="en-US" dirty="0"/>
              <a:t>Can have more remotes</a:t>
            </a:r>
          </a:p>
          <a:p>
            <a:pPr lvl="1"/>
            <a:r>
              <a:rPr lang="en-US" dirty="0"/>
              <a:t>What if we made some changes?</a:t>
            </a:r>
          </a:p>
          <a:p>
            <a:r>
              <a:rPr lang="en-US" dirty="0"/>
              <a:t>Resolve conflicts, if present</a:t>
            </a:r>
          </a:p>
          <a:p>
            <a:pPr lvl="1"/>
            <a:endParaRPr lang="en-US" dirty="0"/>
          </a:p>
          <a:p>
            <a:r>
              <a:rPr lang="en-US" i="1" dirty="0"/>
              <a:t>(Fetch</a:t>
            </a:r>
            <a:r>
              <a:rPr lang="en-US" dirty="0"/>
              <a:t> - just sync’s the repo, no merge)</a:t>
            </a:r>
            <a:endParaRPr lang="en-US" i="1" dirty="0"/>
          </a:p>
        </p:txBody>
      </p:sp>
      <p:sp>
        <p:nvSpPr>
          <p:cNvPr id="4" name="Vývojový diagram: alternativní postup 4">
            <a:extLst>
              <a:ext uri="{FF2B5EF4-FFF2-40B4-BE49-F238E27FC236}">
                <a16:creationId xmlns:a16="http://schemas.microsoft.com/office/drawing/2014/main" id="{9281D8F0-5F50-74B3-AE37-E9FE850AD0B3}"/>
              </a:ext>
            </a:extLst>
          </p:cNvPr>
          <p:cNvSpPr/>
          <p:nvPr/>
        </p:nvSpPr>
        <p:spPr>
          <a:xfrm>
            <a:off x="6096000" y="4966853"/>
            <a:ext cx="1451296" cy="763398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Local</a:t>
            </a:r>
          </a:p>
          <a:p>
            <a:pPr algn="ctr"/>
            <a:r>
              <a:rPr lang="en-US" dirty="0"/>
              <a:t>Repository</a:t>
            </a:r>
          </a:p>
        </p:txBody>
      </p:sp>
      <p:sp>
        <p:nvSpPr>
          <p:cNvPr id="5" name="Vývojový diagram: alternativní postup 5">
            <a:extLst>
              <a:ext uri="{FF2B5EF4-FFF2-40B4-BE49-F238E27FC236}">
                <a16:creationId xmlns:a16="http://schemas.microsoft.com/office/drawing/2014/main" id="{7FB31893-40EB-B395-97E6-67E00FF22954}"/>
              </a:ext>
            </a:extLst>
          </p:cNvPr>
          <p:cNvSpPr/>
          <p:nvPr/>
        </p:nvSpPr>
        <p:spPr>
          <a:xfrm>
            <a:off x="10235143" y="4962404"/>
            <a:ext cx="1451296" cy="763398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Remote</a:t>
            </a:r>
          </a:p>
          <a:p>
            <a:pPr algn="ctr"/>
            <a:r>
              <a:rPr lang="en-US" dirty="0"/>
              <a:t>Repository</a:t>
            </a:r>
          </a:p>
        </p:txBody>
      </p:sp>
      <p:cxnSp>
        <p:nvCxnSpPr>
          <p:cNvPr id="6" name="Zakřivená spojnice 21">
            <a:extLst>
              <a:ext uri="{FF2B5EF4-FFF2-40B4-BE49-F238E27FC236}">
                <a16:creationId xmlns:a16="http://schemas.microsoft.com/office/drawing/2014/main" id="{A15F7C55-CF9A-AB67-336E-2E9CEB675692}"/>
              </a:ext>
            </a:extLst>
          </p:cNvPr>
          <p:cNvCxnSpPr>
            <a:stCxn id="4" idx="2"/>
            <a:endCxn id="5" idx="2"/>
          </p:cNvCxnSpPr>
          <p:nvPr/>
        </p:nvCxnSpPr>
        <p:spPr>
          <a:xfrm rot="5400000" flipH="1" flipV="1">
            <a:off x="8888994" y="3658455"/>
            <a:ext cx="4449" cy="4139143"/>
          </a:xfrm>
          <a:prstGeom prst="curvedConnector3">
            <a:avLst>
              <a:gd name="adj1" fmla="val -12662081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Přímá spojnice se šipkou 30">
            <a:extLst>
              <a:ext uri="{FF2B5EF4-FFF2-40B4-BE49-F238E27FC236}">
                <a16:creationId xmlns:a16="http://schemas.microsoft.com/office/drawing/2014/main" id="{135A8ABE-3F5E-EABA-2F01-EAB9A797D770}"/>
              </a:ext>
            </a:extLst>
          </p:cNvPr>
          <p:cNvCxnSpPr>
            <a:stCxn id="5" idx="1"/>
            <a:endCxn id="4" idx="3"/>
          </p:cNvCxnSpPr>
          <p:nvPr/>
        </p:nvCxnSpPr>
        <p:spPr>
          <a:xfrm flipH="1">
            <a:off x="7547296" y="5344103"/>
            <a:ext cx="2687847" cy="4449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ovéPole 45">
            <a:extLst>
              <a:ext uri="{FF2B5EF4-FFF2-40B4-BE49-F238E27FC236}">
                <a16:creationId xmlns:a16="http://schemas.microsoft.com/office/drawing/2014/main" id="{6823D2D3-6374-2C40-C017-9BBC1719E99C}"/>
              </a:ext>
            </a:extLst>
          </p:cNvPr>
          <p:cNvSpPr txBox="1"/>
          <p:nvPr/>
        </p:nvSpPr>
        <p:spPr>
          <a:xfrm>
            <a:off x="8660928" y="5356470"/>
            <a:ext cx="530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Pull</a:t>
            </a:r>
            <a:endParaRPr lang="en-GB" dirty="0"/>
          </a:p>
        </p:txBody>
      </p:sp>
      <p:sp>
        <p:nvSpPr>
          <p:cNvPr id="9" name="TextovéPole 49">
            <a:extLst>
              <a:ext uri="{FF2B5EF4-FFF2-40B4-BE49-F238E27FC236}">
                <a16:creationId xmlns:a16="http://schemas.microsoft.com/office/drawing/2014/main" id="{1859458E-9523-773C-82BD-A9029382D651}"/>
              </a:ext>
            </a:extLst>
          </p:cNvPr>
          <p:cNvSpPr txBox="1"/>
          <p:nvPr/>
        </p:nvSpPr>
        <p:spPr>
          <a:xfrm>
            <a:off x="8703569" y="6304535"/>
            <a:ext cx="6367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Push</a:t>
            </a:r>
            <a:endParaRPr lang="en-GB" dirty="0"/>
          </a:p>
        </p:txBody>
      </p:sp>
      <p:pic>
        <p:nvPicPr>
          <p:cNvPr id="10" name="Obrázek 8">
            <a:extLst>
              <a:ext uri="{FF2B5EF4-FFF2-40B4-BE49-F238E27FC236}">
                <a16:creationId xmlns:a16="http://schemas.microsoft.com/office/drawing/2014/main" id="{CFD2B930-CC2A-26BE-BF5A-4DA0813A91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3967" y="3881932"/>
            <a:ext cx="958617" cy="918024"/>
          </a:xfrm>
          <a:prstGeom prst="rect">
            <a:avLst/>
          </a:prstGeom>
        </p:spPr>
      </p:pic>
      <p:pic>
        <p:nvPicPr>
          <p:cNvPr id="11" name="Picture 2" descr="Cloud Data Center Specialty Benefits">
            <a:extLst>
              <a:ext uri="{FF2B5EF4-FFF2-40B4-BE49-F238E27FC236}">
                <a16:creationId xmlns:a16="http://schemas.microsoft.com/office/drawing/2014/main" id="{0654B0C0-BA49-433A-D0E5-BC9B801F2A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91843" y="3982476"/>
            <a:ext cx="1837606" cy="10336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4" descr="File:Gnome-fs-server.svg - Wikipedia">
            <a:extLst>
              <a:ext uri="{FF2B5EF4-FFF2-40B4-BE49-F238E27FC236}">
                <a16:creationId xmlns:a16="http://schemas.microsoft.com/office/drawing/2014/main" id="{862706D6-6E9A-ABFF-0B47-AC8DE995C2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80598" y="3819672"/>
            <a:ext cx="1022260" cy="10222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2557335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Branching</a:t>
            </a:r>
            <a:endParaRPr lang="en-GB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Each commit is a snapshot in time</a:t>
            </a:r>
          </a:p>
          <a:p>
            <a:pPr lvl="1"/>
            <a:r>
              <a:rPr lang="en-US" dirty="0"/>
              <a:t>Everything is </a:t>
            </a:r>
            <a:r>
              <a:rPr lang="en-US" dirty="0" err="1"/>
              <a:t>checksummed</a:t>
            </a:r>
            <a:r>
              <a:rPr lang="en-US" dirty="0"/>
              <a:t> with a SHA hash, with a custom label </a:t>
            </a:r>
            <a:br>
              <a:rPr lang="en-US" dirty="0"/>
            </a:br>
            <a:r>
              <a:rPr lang="en-US" dirty="0"/>
              <a:t>(commit name)</a:t>
            </a:r>
          </a:p>
          <a:p>
            <a:pPr lvl="1"/>
            <a:r>
              <a:rPr lang="en-US" dirty="0"/>
              <a:t>Has one or two parents</a:t>
            </a:r>
          </a:p>
          <a:p>
            <a:r>
              <a:rPr lang="en-US" dirty="0"/>
              <a:t>Branch is a </a:t>
            </a:r>
            <a:r>
              <a:rPr lang="en-US" b="1" dirty="0"/>
              <a:t>pointer to </a:t>
            </a:r>
            <a:r>
              <a:rPr lang="en-US" dirty="0"/>
              <a:t>a commit</a:t>
            </a:r>
          </a:p>
          <a:p>
            <a:pPr lvl="1"/>
            <a:r>
              <a:rPr lang="en-US" dirty="0"/>
              <a:t>Most recent commit in a branch</a:t>
            </a:r>
          </a:p>
          <a:p>
            <a:pPr lvl="1"/>
            <a:r>
              <a:rPr lang="en-US" dirty="0"/>
              <a:t>Default name: </a:t>
            </a:r>
            <a:br>
              <a:rPr lang="en-US" dirty="0"/>
            </a:br>
            <a:r>
              <a:rPr lang="en-US" dirty="0"/>
              <a:t>“master”, “main” or </a:t>
            </a:r>
            <a:br>
              <a:rPr lang="en-US" dirty="0"/>
            </a:br>
            <a:r>
              <a:rPr lang="en-US" dirty="0"/>
              <a:t>“</a:t>
            </a:r>
            <a:r>
              <a:rPr lang="en-US" dirty="0" err="1"/>
              <a:t>CommitMcCommitFace</a:t>
            </a:r>
            <a:r>
              <a:rPr lang="en-US" dirty="0"/>
              <a:t>:</a:t>
            </a:r>
          </a:p>
          <a:p>
            <a:r>
              <a:rPr lang="en-US" dirty="0"/>
              <a:t>Branches are meant to merge</a:t>
            </a:r>
          </a:p>
          <a:p>
            <a:r>
              <a:rPr lang="en-US" dirty="0"/>
              <a:t>Do not have to overuse with </a:t>
            </a:r>
            <a:br>
              <a:rPr lang="en-US" dirty="0"/>
            </a:br>
            <a:r>
              <a:rPr lang="en-US" dirty="0"/>
              <a:t>GitHub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GB" dirty="0"/>
          </a:p>
        </p:txBody>
      </p:sp>
      <p:pic>
        <p:nvPicPr>
          <p:cNvPr id="6146" name="Picture 2" descr="git flow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8855" y="2719624"/>
            <a:ext cx="5760294" cy="40619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5556515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Collaboration</a:t>
            </a:r>
            <a:endParaRPr lang="en-GB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Collaborators in your group share the same remote</a:t>
            </a:r>
          </a:p>
          <a:p>
            <a:pPr lvl="1"/>
            <a:r>
              <a:rPr lang="en-US" dirty="0"/>
              <a:t>Write access?</a:t>
            </a:r>
          </a:p>
          <a:p>
            <a:endParaRPr lang="en-US" dirty="0"/>
          </a:p>
          <a:p>
            <a:r>
              <a:rPr lang="en-US" dirty="0"/>
              <a:t>Outside collaborators for open-source project</a:t>
            </a:r>
          </a:p>
          <a:p>
            <a:pPr lvl="1"/>
            <a:r>
              <a:rPr lang="en-US" dirty="0"/>
              <a:t>Use GitHub’s pull request features:</a:t>
            </a:r>
          </a:p>
          <a:p>
            <a:pPr lvl="1"/>
            <a:r>
              <a:rPr lang="en-US" dirty="0"/>
              <a:t>Collaborator:</a:t>
            </a:r>
          </a:p>
          <a:p>
            <a:pPr lvl="2"/>
            <a:r>
              <a:rPr lang="en-US" dirty="0"/>
              <a:t>Makes a copy (Fork) of the repo</a:t>
            </a:r>
          </a:p>
          <a:p>
            <a:pPr lvl="2"/>
            <a:r>
              <a:rPr lang="en-US" dirty="0"/>
              <a:t>Commits his changes</a:t>
            </a:r>
          </a:p>
          <a:p>
            <a:pPr lvl="2"/>
            <a:r>
              <a:rPr lang="en-US" dirty="0"/>
              <a:t>Issues pull request</a:t>
            </a:r>
          </a:p>
          <a:p>
            <a:pPr lvl="1"/>
            <a:r>
              <a:rPr lang="en-US" dirty="0"/>
              <a:t>Maintainer:</a:t>
            </a:r>
          </a:p>
          <a:p>
            <a:pPr lvl="2"/>
            <a:r>
              <a:rPr lang="en-US" dirty="0"/>
              <a:t>Reviews and merges the changes</a:t>
            </a:r>
            <a:endParaRPr lang="en-GB" dirty="0"/>
          </a:p>
        </p:txBody>
      </p:sp>
      <p:pic>
        <p:nvPicPr>
          <p:cNvPr id="3074" name="Picture 2" descr="https://www.researchgate.net/profile/Robert-Cohen-25/publication/318912754/figure/fig1/AS:523701759287300@1501871637618/Git-with-GitHub-Workflows_W640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3619499"/>
            <a:ext cx="6096000" cy="32385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0707693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Pull requests</a:t>
            </a:r>
            <a:endParaRPr lang="en-GB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Open the code to wide public, incl. non-collaborators</a:t>
            </a:r>
          </a:p>
          <a:p>
            <a:pPr lvl="1"/>
            <a:r>
              <a:rPr lang="en-US" dirty="0"/>
              <a:t>Still prevent them from messing your code</a:t>
            </a:r>
          </a:p>
          <a:p>
            <a:r>
              <a:rPr lang="en-US" dirty="0"/>
              <a:t>“Hey, I fixed your code, </a:t>
            </a:r>
            <a:r>
              <a:rPr lang="en-US" dirty="0" err="1"/>
              <a:t>wanna</a:t>
            </a:r>
            <a:r>
              <a:rPr lang="en-US" dirty="0"/>
              <a:t> merge?”</a:t>
            </a:r>
          </a:p>
          <a:p>
            <a:endParaRPr lang="en-US" dirty="0"/>
          </a:p>
          <a:p>
            <a:r>
              <a:rPr lang="en-US" dirty="0"/>
              <a:t>You are sharing your code, Bob checks it out (forks).</a:t>
            </a:r>
          </a:p>
          <a:p>
            <a:r>
              <a:rPr lang="en-US" dirty="0"/>
              <a:t>Fork is Bobs version (= Bob’s branch)</a:t>
            </a:r>
          </a:p>
          <a:p>
            <a:r>
              <a:rPr lang="en-US" dirty="0"/>
              <a:t>Bob makes some changes and commits to his repository (which is a branch of your repository). </a:t>
            </a:r>
            <a:br>
              <a:rPr lang="en-US" dirty="0"/>
            </a:br>
            <a:r>
              <a:rPr lang="en-US" dirty="0"/>
              <a:t>Bob finalizes his codes.</a:t>
            </a:r>
          </a:p>
          <a:p>
            <a:r>
              <a:rPr lang="en-US" dirty="0"/>
              <a:t>Bob can’t rewrite your code, </a:t>
            </a:r>
            <a:br>
              <a:rPr lang="en-US" dirty="0"/>
            </a:br>
            <a:r>
              <a:rPr lang="en-US" dirty="0"/>
              <a:t>issues a pull request</a:t>
            </a:r>
          </a:p>
          <a:p>
            <a:r>
              <a:rPr lang="en-US" dirty="0"/>
              <a:t>You check his changes and merge</a:t>
            </a:r>
          </a:p>
          <a:p>
            <a:endParaRPr lang="en-US" dirty="0"/>
          </a:p>
        </p:txBody>
      </p:sp>
      <p:pic>
        <p:nvPicPr>
          <p:cNvPr id="8194" name="Picture 2" descr="Screen Shot 2014-03-08 at 23.07.3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00750" y="4524637"/>
            <a:ext cx="6191250" cy="2190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35808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GIT: Get organized!</a:t>
            </a:r>
            <a:endParaRPr lang="en-GB" dirty="0"/>
          </a:p>
        </p:txBody>
      </p:sp>
      <p:pic>
        <p:nvPicPr>
          <p:cNvPr id="4" name="Obrázek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265" y="1690688"/>
            <a:ext cx="7972425" cy="4305300"/>
          </a:xfrm>
          <a:prstGeom prst="rect">
            <a:avLst/>
          </a:prstGeom>
        </p:spPr>
      </p:pic>
      <p:pic>
        <p:nvPicPr>
          <p:cNvPr id="5" name="Obrázek 4">
            <a:extLst>
              <a:ext uri="{FF2B5EF4-FFF2-40B4-BE49-F238E27FC236}">
                <a16:creationId xmlns:a16="http://schemas.microsoft.com/office/drawing/2014/main" id="{120CD0FF-0049-215F-5F29-D6D7B84B2F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9322" y="1365315"/>
            <a:ext cx="6580413" cy="4956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749598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19CF91-A9AD-5493-E9FA-CC0478FBDE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90CFC5-B2C8-8C6A-8DE2-BC8BC27946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Git: Prepare for a mistake!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656A87-7563-9510-7E05-3124E7A434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Made a big oops?</a:t>
            </a:r>
          </a:p>
          <a:p>
            <a:r>
              <a:rPr lang="en-US" dirty="0"/>
              <a:t>Overwrote an important file?</a:t>
            </a:r>
          </a:p>
          <a:p>
            <a:endParaRPr lang="en-US" dirty="0"/>
          </a:p>
          <a:p>
            <a:r>
              <a:rPr lang="en-US" dirty="0"/>
              <a:t>The project JUST does not run?</a:t>
            </a:r>
          </a:p>
          <a:p>
            <a:endParaRPr lang="en-US" dirty="0"/>
          </a:p>
        </p:txBody>
      </p:sp>
      <p:pic>
        <p:nvPicPr>
          <p:cNvPr id="2050" name="Picture 2" descr="revert - When suddenly I have no idea what I'm doing with the code - devRant">
            <a:extLst>
              <a:ext uri="{FF2B5EF4-FFF2-40B4-BE49-F238E27FC236}">
                <a16:creationId xmlns:a16="http://schemas.microsoft.com/office/drawing/2014/main" id="{F6E2A060-276B-6ABD-3629-EF53123610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17378" y="4396192"/>
            <a:ext cx="3684814" cy="23509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Git revert &lt;3 : r/ProgrammerHumor">
            <a:extLst>
              <a:ext uri="{FF2B5EF4-FFF2-40B4-BE49-F238E27FC236}">
                <a16:creationId xmlns:a16="http://schemas.microsoft.com/office/drawing/2014/main" id="{3A25E086-D7D1-B0A7-9A5D-4036076E05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27620" y="186957"/>
            <a:ext cx="3292929" cy="37563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gitPanic - Removing and Restoring Work - DEV Community">
            <a:extLst>
              <a:ext uri="{FF2B5EF4-FFF2-40B4-BE49-F238E27FC236}">
                <a16:creationId xmlns:a16="http://schemas.microsoft.com/office/drawing/2014/main" id="{AF522C2A-D6EA-5257-F6BC-A78359F59A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4070442"/>
            <a:ext cx="2710543" cy="26766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9614444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B68E9F8-9CB1-201A-71D8-36412B494A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GIT: More versions of the same project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7A4092C8-1F19-2909-93E7-F851C2B1D5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470918" cy="4351338"/>
          </a:xfrm>
        </p:spPr>
        <p:txBody>
          <a:bodyPr/>
          <a:lstStyle/>
          <a:p>
            <a:r>
              <a:rPr lang="en-US" dirty="0"/>
              <a:t>Hell to maintain?</a:t>
            </a:r>
          </a:p>
          <a:p>
            <a:endParaRPr lang="en-US" dirty="0"/>
          </a:p>
          <a:p>
            <a:r>
              <a:rPr lang="en-US" dirty="0"/>
              <a:t>Branches might merge back when successful, or die out</a:t>
            </a:r>
          </a:p>
        </p:txBody>
      </p:sp>
      <p:pic>
        <p:nvPicPr>
          <p:cNvPr id="1026" name="Picture 2" descr="GIT Branch Strategies in Test Processes - TesterYou">
            <a:extLst>
              <a:ext uri="{FF2B5EF4-FFF2-40B4-BE49-F238E27FC236}">
                <a16:creationId xmlns:a16="http://schemas.microsoft.com/office/drawing/2014/main" id="{269AC49E-0E73-CF5B-41A5-F5F450D1B4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09118" y="2567568"/>
            <a:ext cx="6882882" cy="42904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9099673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GIT: Get backed up!</a:t>
            </a:r>
            <a:endParaRPr lang="en-GB" dirty="0"/>
          </a:p>
        </p:txBody>
      </p:sp>
      <p:pic>
        <p:nvPicPr>
          <p:cNvPr id="4" name="Picture 2" descr="https://i.imgflip.com/5flpav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0075" y="1730375"/>
            <a:ext cx="5495925" cy="4762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Dont care fotografías e imágenes de alta resolución - Alamy">
            <a:extLst>
              <a:ext uri="{FF2B5EF4-FFF2-40B4-BE49-F238E27FC236}">
                <a16:creationId xmlns:a16="http://schemas.microsoft.com/office/drawing/2014/main" id="{1FFA36A2-CAB5-1C34-2046-3D0C7546BF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63919" y="2247187"/>
            <a:ext cx="4723949" cy="46108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ovéPole 4">
            <a:extLst>
              <a:ext uri="{FF2B5EF4-FFF2-40B4-BE49-F238E27FC236}">
                <a16:creationId xmlns:a16="http://schemas.microsoft.com/office/drawing/2014/main" id="{AAF26C6D-45A9-DD5A-421D-2488248202EA}"/>
              </a:ext>
            </a:extLst>
          </p:cNvPr>
          <p:cNvSpPr txBox="1"/>
          <p:nvPr/>
        </p:nvSpPr>
        <p:spPr>
          <a:xfrm>
            <a:off x="6874328" y="953274"/>
            <a:ext cx="3631941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6000" dirty="0"/>
              <a:t>GitHub: </a:t>
            </a:r>
          </a:p>
        </p:txBody>
      </p:sp>
    </p:spTree>
    <p:extLst>
      <p:ext uri="{BB962C8B-B14F-4D97-AF65-F5344CB8AC3E}">
        <p14:creationId xmlns:p14="http://schemas.microsoft.com/office/powerpoint/2010/main" val="341028197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Git: </a:t>
            </a:r>
            <a:r>
              <a:rPr lang="cs-CZ" dirty="0" err="1"/>
              <a:t>Collaborate</a:t>
            </a:r>
            <a:r>
              <a:rPr lang="cs-CZ" dirty="0"/>
              <a:t>!</a:t>
            </a:r>
            <a:endParaRPr lang="en-GB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838200" y="4913421"/>
            <a:ext cx="10515600" cy="1263542"/>
          </a:xfrm>
        </p:spPr>
        <p:txBody>
          <a:bodyPr/>
          <a:lstStyle/>
          <a:p>
            <a:r>
              <a:rPr lang="en-GB" dirty="0"/>
              <a:t>Invited collaborators</a:t>
            </a:r>
          </a:p>
          <a:p>
            <a:r>
              <a:rPr lang="en-GB" dirty="0"/>
              <a:t>Pull requests from wide public</a:t>
            </a:r>
          </a:p>
        </p:txBody>
      </p:sp>
      <p:pic>
        <p:nvPicPr>
          <p:cNvPr id="6" name="Picture 2" descr="https://www.researchgate.net/profile/Robert-Cohen-25/publication/318912754/figure/fig1/AS:523701759287300@1501871637618/Git-with-GitHub-Workflows_W640.jpg">
            <a:extLst>
              <a:ext uri="{FF2B5EF4-FFF2-40B4-BE49-F238E27FC236}">
                <a16:creationId xmlns:a16="http://schemas.microsoft.com/office/drawing/2014/main" id="{D78A3361-EDB9-CC5F-FD0F-A6D7D66E4C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86435" y="3639373"/>
            <a:ext cx="6096000" cy="32385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4" name="Picture 2" descr="Design Team Collaboration with Github | by Kelly Dern | Medium">
            <a:extLst>
              <a:ext uri="{FF2B5EF4-FFF2-40B4-BE49-F238E27FC236}">
                <a16:creationId xmlns:a16="http://schemas.microsoft.com/office/drawing/2014/main" id="{2B858AE8-394C-8353-CB0B-43DCEF760B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307094"/>
            <a:ext cx="8284029" cy="33550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7620181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B22363C-7700-B51A-9270-7B3CAEC360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Git: Make your research public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78B3DF68-4A1F-28BA-EE9A-8027DB6A81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link to GitHub would do too</a:t>
            </a:r>
          </a:p>
          <a:p>
            <a:r>
              <a:rPr lang="en-US" dirty="0"/>
              <a:t>Dedicated storage repository - </a:t>
            </a:r>
            <a:r>
              <a:rPr lang="en-US" dirty="0">
                <a:hlinkClick r:id="rId2"/>
              </a:rPr>
              <a:t>https://zenodo.org/</a:t>
            </a:r>
            <a:r>
              <a:rPr lang="en-US" dirty="0"/>
              <a:t> - pin a release</a:t>
            </a:r>
          </a:p>
        </p:txBody>
      </p:sp>
      <p:pic>
        <p:nvPicPr>
          <p:cNvPr id="5" name="Obrázek 4">
            <a:extLst>
              <a:ext uri="{FF2B5EF4-FFF2-40B4-BE49-F238E27FC236}">
                <a16:creationId xmlns:a16="http://schemas.microsoft.com/office/drawing/2014/main" id="{91C9FF27-940E-1126-B915-53C2F3CBD4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38800"/>
            <a:ext cx="12192000" cy="5957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82472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adpis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Hands on</a:t>
            </a:r>
            <a:endParaRPr lang="en-GB" dirty="0"/>
          </a:p>
        </p:txBody>
      </p:sp>
      <p:sp>
        <p:nvSpPr>
          <p:cNvPr id="5" name="Zástupný symbol pro text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9345299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First commit, where we initialize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Initialize a new repository</a:t>
            </a:r>
          </a:p>
          <a:p>
            <a:r>
              <a:rPr lang="en-US" dirty="0"/>
              <a:t>Add a readme</a:t>
            </a:r>
            <a:r>
              <a:rPr lang="en-US" b="1" i="1" dirty="0"/>
              <a:t>.md</a:t>
            </a:r>
            <a:r>
              <a:rPr lang="en-US" dirty="0"/>
              <a:t> file, write down the “Hello world”  line</a:t>
            </a:r>
          </a:p>
          <a:p>
            <a:r>
              <a:rPr lang="en-US" dirty="0" err="1"/>
              <a:t>Git</a:t>
            </a:r>
            <a:r>
              <a:rPr lang="en-US" dirty="0"/>
              <a:t> commit</a:t>
            </a:r>
          </a:p>
          <a:p>
            <a:pPr lvl="1"/>
            <a:r>
              <a:rPr lang="en-US" dirty="0"/>
              <a:t>Staging level</a:t>
            </a:r>
          </a:p>
          <a:p>
            <a:pPr lvl="1"/>
            <a:r>
              <a:rPr lang="en-US" b="1" dirty="0"/>
              <a:t>Commit message</a:t>
            </a:r>
          </a:p>
        </p:txBody>
      </p:sp>
      <p:pic>
        <p:nvPicPr>
          <p:cNvPr id="4" name="Picture 2" descr="Working tree, staging area, and Git directory.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7180" y="4419126"/>
            <a:ext cx="4572720" cy="25207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Obdélník 4"/>
          <p:cNvSpPr/>
          <p:nvPr/>
        </p:nvSpPr>
        <p:spPr>
          <a:xfrm>
            <a:off x="2028185" y="6534103"/>
            <a:ext cx="329070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>
                <a:hlinkClick r:id="rId3"/>
              </a:rPr>
              <a:t>https://git-scm.com/book/en/v2</a:t>
            </a:r>
            <a:r>
              <a:rPr lang="en-GB" dirty="0"/>
              <a:t>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B3C681F-1670-1ED7-4B9D-E96E88D0C0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39150" y="2955561"/>
            <a:ext cx="3252850" cy="3602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611833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Second commit, where we extend and ignore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Add a line to the readme.md below the hello world:</a:t>
            </a:r>
            <a:br>
              <a:rPr lang="en-US" dirty="0"/>
            </a:br>
            <a:r>
              <a:rPr lang="en-US" dirty="0"/>
              <a:t>“This is our testing repository”</a:t>
            </a:r>
          </a:p>
          <a:p>
            <a:r>
              <a:rPr lang="en-US" dirty="0"/>
              <a:t>Add </a:t>
            </a:r>
            <a:r>
              <a:rPr lang="en-US" b="1" dirty="0"/>
              <a:t>data/topsecretfile.md</a:t>
            </a:r>
          </a:p>
          <a:p>
            <a:r>
              <a:rPr lang="en-US" dirty="0"/>
              <a:t>Add </a:t>
            </a:r>
            <a:r>
              <a:rPr lang="en-US" b="1" dirty="0" err="1"/>
              <a:t>generatedfile.mat</a:t>
            </a:r>
            <a:endParaRPr lang="en-US" b="1" dirty="0"/>
          </a:p>
          <a:p>
            <a:r>
              <a:rPr lang="en-US" dirty="0"/>
              <a:t>Add .</a:t>
            </a:r>
            <a:r>
              <a:rPr lang="en-US" dirty="0" err="1"/>
              <a:t>gitignore</a:t>
            </a:r>
            <a:r>
              <a:rPr lang="en-US" dirty="0"/>
              <a:t> file</a:t>
            </a:r>
          </a:p>
          <a:p>
            <a:pPr lvl="1"/>
            <a:r>
              <a:rPr lang="en-US" dirty="0"/>
              <a:t>Data/</a:t>
            </a:r>
          </a:p>
          <a:p>
            <a:pPr lvl="1"/>
            <a:r>
              <a:rPr lang="en-US" dirty="0"/>
              <a:t>*.mat</a:t>
            </a:r>
          </a:p>
          <a:p>
            <a:r>
              <a:rPr lang="en-US" dirty="0"/>
              <a:t>Commit</a:t>
            </a:r>
          </a:p>
          <a:p>
            <a:r>
              <a:rPr lang="en-US" dirty="0"/>
              <a:t>Push (publish)</a:t>
            </a:r>
          </a:p>
        </p:txBody>
      </p:sp>
      <p:pic>
        <p:nvPicPr>
          <p:cNvPr id="4" name="Obrázek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85822" y="2357437"/>
            <a:ext cx="3206178" cy="4500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385537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6" descr="Order Warning Signs for Workplace Safety">
            <a:extLst>
              <a:ext uri="{FF2B5EF4-FFF2-40B4-BE49-F238E27FC236}">
                <a16:creationId xmlns:a16="http://schemas.microsoft.com/office/drawing/2014/main" id="{DA246BDB-2223-6A0A-7DC8-F8E66FD77E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27789" y="315912"/>
            <a:ext cx="3019425" cy="3019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Nadpis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.</a:t>
            </a:r>
            <a:r>
              <a:rPr lang="en-US" dirty="0" err="1"/>
              <a:t>gitignore</a:t>
            </a:r>
            <a:endParaRPr lang="en-GB" dirty="0"/>
          </a:p>
        </p:txBody>
      </p:sp>
      <p:sp>
        <p:nvSpPr>
          <p:cNvPr id="5" name="Zástupný symbol pro obsah 4"/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Commit only the sources, </a:t>
            </a:r>
            <a:br>
              <a:rPr lang="en-US" dirty="0"/>
            </a:br>
            <a:r>
              <a:rPr lang="en-US" dirty="0"/>
              <a:t>not the products</a:t>
            </a:r>
          </a:p>
          <a:p>
            <a:pPr lvl="1"/>
            <a:r>
              <a:rPr lang="en-US" dirty="0"/>
              <a:t>Ignore output and intermediate files</a:t>
            </a:r>
          </a:p>
          <a:p>
            <a:pPr lvl="1"/>
            <a:r>
              <a:rPr lang="en-US" dirty="0"/>
              <a:t>NO secret data not to be shared</a:t>
            </a:r>
          </a:p>
          <a:p>
            <a:endParaRPr lang="en-US" dirty="0"/>
          </a:p>
          <a:p>
            <a:r>
              <a:rPr lang="en-US" b="1" dirty="0"/>
              <a:t>=&gt; Ignore staging</a:t>
            </a:r>
          </a:p>
          <a:p>
            <a:r>
              <a:rPr lang="en-US" dirty="0"/>
              <a:t>.</a:t>
            </a:r>
            <a:r>
              <a:rPr lang="en-US" dirty="0" err="1"/>
              <a:t>gitignore</a:t>
            </a:r>
            <a:endParaRPr lang="en-US" dirty="0"/>
          </a:p>
          <a:p>
            <a:pPr lvl="1"/>
            <a:r>
              <a:rPr lang="en-US" dirty="0"/>
              <a:t>A specialized file stores what should be ignored at staging</a:t>
            </a:r>
          </a:p>
          <a:p>
            <a:pPr lvl="1"/>
            <a:r>
              <a:rPr lang="en-US" dirty="0"/>
              <a:t>also versioned, can be ignored :)</a:t>
            </a:r>
          </a:p>
          <a:p>
            <a:pPr lvl="1"/>
            <a:r>
              <a:rPr lang="en-US" dirty="0"/>
              <a:t>In any folder</a:t>
            </a:r>
          </a:p>
          <a:p>
            <a:pPr lvl="1"/>
            <a:r>
              <a:rPr lang="en-US" dirty="0"/>
              <a:t>Names: topsecretfile.txt</a:t>
            </a:r>
          </a:p>
          <a:p>
            <a:pPr lvl="1"/>
            <a:r>
              <a:rPr lang="en-US" dirty="0"/>
              <a:t>Wildcards: /*.mat</a:t>
            </a:r>
            <a:endParaRPr lang="en-GB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4AFC9A9-802F-15B6-1E21-404506DB64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289272" y="2980591"/>
            <a:ext cx="3736731" cy="3196371"/>
          </a:xfrm>
        </p:spPr>
        <p:txBody>
          <a:bodyPr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dirty="0"/>
              <a:t>IGNORED FILES LIVE ONLY IN YOUR FOLDER</a:t>
            </a:r>
          </a:p>
          <a:p>
            <a:endParaRPr lang="en-US" dirty="0"/>
          </a:p>
          <a:p>
            <a:r>
              <a:rPr lang="en-US" dirty="0"/>
              <a:t>NO DISCARD</a:t>
            </a:r>
          </a:p>
          <a:p>
            <a:r>
              <a:rPr lang="en-US" dirty="0"/>
              <a:t>NO REVERT</a:t>
            </a:r>
          </a:p>
          <a:p>
            <a:r>
              <a:rPr lang="en-US" dirty="0"/>
              <a:t>NO CONTROL ON BRANCH SWITCH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GB" dirty="0"/>
          </a:p>
          <a:p>
            <a:endParaRPr lang="en-US" dirty="0"/>
          </a:p>
        </p:txBody>
      </p:sp>
      <p:pic>
        <p:nvPicPr>
          <p:cNvPr id="1028" name="Picture 4" descr="No Turning Back Stock Photo - Alamy">
            <a:extLst>
              <a:ext uri="{FF2B5EF4-FFF2-40B4-BE49-F238E27FC236}">
                <a16:creationId xmlns:a16="http://schemas.microsoft.com/office/drawing/2014/main" id="{5E7088EF-EFD5-ECB0-6C7A-AC6F84E8EA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84088" y="2643981"/>
            <a:ext cx="1685925" cy="2714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9573302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Third commit, where we mess up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838200" y="1825624"/>
            <a:ext cx="5840186" cy="4860925"/>
          </a:xfrm>
        </p:spPr>
        <p:txBody>
          <a:bodyPr>
            <a:normAutofit lnSpcReduction="10000"/>
          </a:bodyPr>
          <a:lstStyle/>
          <a:p>
            <a:r>
              <a:rPr lang="en-US" dirty="0"/>
              <a:t>Delete the content of the readme.md</a:t>
            </a:r>
          </a:p>
          <a:p>
            <a:pPr lvl="1"/>
            <a:r>
              <a:rPr lang="en-US" dirty="0"/>
              <a:t>Discard changes</a:t>
            </a:r>
          </a:p>
          <a:p>
            <a:r>
              <a:rPr lang="en-US" dirty="0"/>
              <a:t>Mess up again and commit (locally)</a:t>
            </a:r>
          </a:p>
          <a:p>
            <a:pPr lvl="1"/>
            <a:r>
              <a:rPr lang="en-US" dirty="0"/>
              <a:t>Undo commit (if it was not pushed)</a:t>
            </a:r>
          </a:p>
          <a:p>
            <a:pPr lvl="2"/>
            <a:r>
              <a:rPr lang="en-US" dirty="0"/>
              <a:t>The files stay modified</a:t>
            </a:r>
          </a:p>
          <a:p>
            <a:pPr lvl="1"/>
            <a:r>
              <a:rPr lang="en-US" dirty="0"/>
              <a:t>Reset to… (if it was not pushed)</a:t>
            </a:r>
          </a:p>
          <a:p>
            <a:pPr lvl="2"/>
            <a:r>
              <a:rPr lang="en-US" dirty="0"/>
              <a:t>The files get reset too</a:t>
            </a:r>
          </a:p>
          <a:p>
            <a:r>
              <a:rPr lang="en-US" dirty="0"/>
              <a:t>After Push</a:t>
            </a:r>
          </a:p>
          <a:p>
            <a:pPr lvl="1"/>
            <a:r>
              <a:rPr lang="en-US" dirty="0"/>
              <a:t>Revert the changes (not always convenient)</a:t>
            </a:r>
          </a:p>
          <a:p>
            <a:pPr lvl="1"/>
            <a:r>
              <a:rPr lang="en-US" dirty="0"/>
              <a:t>Check out (always there)</a:t>
            </a:r>
          </a:p>
          <a:p>
            <a:pPr lvl="1"/>
            <a:r>
              <a:rPr lang="en-US" dirty="0"/>
              <a:t>Make a branch on previous commit </a:t>
            </a:r>
            <a:br>
              <a:rPr lang="en-US" dirty="0"/>
            </a:br>
            <a:r>
              <a:rPr lang="en-US" dirty="0"/>
              <a:t>(Full working state)</a:t>
            </a:r>
          </a:p>
          <a:p>
            <a:endParaRPr lang="en-GB" dirty="0"/>
          </a:p>
        </p:txBody>
      </p:sp>
      <p:pic>
        <p:nvPicPr>
          <p:cNvPr id="4" name="Obrázek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4487" y="3135086"/>
            <a:ext cx="5497513" cy="3779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640739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That's All Folks! | Warner Bros. Entertainment Wiki | Fandom">
            <a:extLst>
              <a:ext uri="{FF2B5EF4-FFF2-40B4-BE49-F238E27FC236}">
                <a16:creationId xmlns:a16="http://schemas.microsoft.com/office/drawing/2014/main" id="{99B88D19-F5C5-8782-5171-C7F0AC7C59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86708" y="768350"/>
            <a:ext cx="6018584" cy="37510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8C2666C1-FE0D-5134-84CF-A14F5CA5F0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828245"/>
            <a:ext cx="10515600" cy="2852737"/>
          </a:xfrm>
        </p:spPr>
        <p:txBody>
          <a:bodyPr/>
          <a:lstStyle/>
          <a:p>
            <a:r>
              <a:rPr lang="en-US" dirty="0"/>
              <a:t>That’s it!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A22FD4B-EF4B-664F-266B-26DC541E5E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5707970"/>
            <a:ext cx="10515600" cy="1500187"/>
          </a:xfrm>
        </p:spPr>
        <p:txBody>
          <a:bodyPr/>
          <a:lstStyle/>
          <a:p>
            <a:r>
              <a:rPr lang="en-US" dirty="0"/>
              <a:t>… let’s see some advanced stuff with branching next time!</a:t>
            </a:r>
          </a:p>
        </p:txBody>
      </p:sp>
    </p:spTree>
    <p:extLst>
      <p:ext uri="{BB962C8B-B14F-4D97-AF65-F5344CB8AC3E}">
        <p14:creationId xmlns:p14="http://schemas.microsoft.com/office/powerpoint/2010/main" val="549730737"/>
      </p:ext>
    </p:extLst>
  </p:cSld>
  <p:clrMapOvr>
    <a:masterClrMapping/>
  </p:clrMapOvr>
</p:sld>
</file>

<file path=ppt/theme/theme1.xml><?xml version="1.0" encoding="utf-8"?>
<a:theme xmlns:a="http://schemas.openxmlformats.org/drawingml/2006/main" name="Motiv Office">
  <a:themeElements>
    <a:clrScheme name="Kancelář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Kancelář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Motiv Office">
  <a:themeElements>
    <a:clrScheme name="Kancelář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Kancelář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25916</TotalTime>
  <Words>1675</Words>
  <Application>Microsoft Office PowerPoint</Application>
  <PresentationFormat>Widescreen</PresentationFormat>
  <Paragraphs>298</Paragraphs>
  <Slides>42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6" baseType="lpstr">
      <vt:lpstr>Arial</vt:lpstr>
      <vt:lpstr>Calibri</vt:lpstr>
      <vt:lpstr>Calibri Light</vt:lpstr>
      <vt:lpstr>Motiv Office</vt:lpstr>
      <vt:lpstr>Use  Git</vt:lpstr>
      <vt:lpstr>PowerPoint Presentation</vt:lpstr>
      <vt:lpstr>Get organized!</vt:lpstr>
      <vt:lpstr>Prepare for a mistake!</vt:lpstr>
      <vt:lpstr>More versions of the same project</vt:lpstr>
      <vt:lpstr>Get backed up!</vt:lpstr>
      <vt:lpstr>Collaborate!</vt:lpstr>
      <vt:lpstr>Make your research public</vt:lpstr>
      <vt:lpstr>Version control system</vt:lpstr>
      <vt:lpstr>Version control systems</vt:lpstr>
      <vt:lpstr>Use Git!</vt:lpstr>
      <vt:lpstr>What to version control?</vt:lpstr>
      <vt:lpstr>What is a Git Repository?</vt:lpstr>
      <vt:lpstr>Repository log – take me to the past and back</vt:lpstr>
      <vt:lpstr>Centralized and distributed repositories and GitHub</vt:lpstr>
      <vt:lpstr>Centralized and distributed repositories and GitHub</vt:lpstr>
      <vt:lpstr>Distributed repositories</vt:lpstr>
      <vt:lpstr>GitHub</vt:lpstr>
      <vt:lpstr>GitLab</vt:lpstr>
      <vt:lpstr>Client tools</vt:lpstr>
      <vt:lpstr>Process</vt:lpstr>
      <vt:lpstr>Process - stage</vt:lpstr>
      <vt:lpstr>Process – COMMIT</vt:lpstr>
      <vt:lpstr>Process – COMMIT = safe checkpoint</vt:lpstr>
      <vt:lpstr>Process – COMMIT: Summary</vt:lpstr>
      <vt:lpstr>Process - PUSH</vt:lpstr>
      <vt:lpstr>Process - PULL</vt:lpstr>
      <vt:lpstr>Branching</vt:lpstr>
      <vt:lpstr>Collaboration</vt:lpstr>
      <vt:lpstr>Pull requests</vt:lpstr>
      <vt:lpstr>GIT: Get organized!</vt:lpstr>
      <vt:lpstr>Git: Prepare for a mistake!</vt:lpstr>
      <vt:lpstr>GIT: More versions of the same project</vt:lpstr>
      <vt:lpstr>GIT: Get backed up!</vt:lpstr>
      <vt:lpstr>Git: Collaborate!</vt:lpstr>
      <vt:lpstr>Git: Make your research public</vt:lpstr>
      <vt:lpstr>Hands on</vt:lpstr>
      <vt:lpstr>First commit, where we initialize</vt:lpstr>
      <vt:lpstr>Second commit, where we extend and ignore</vt:lpstr>
      <vt:lpstr>.gitignore</vt:lpstr>
      <vt:lpstr>Third commit, where we mess up</vt:lpstr>
      <vt:lpstr>That’s it!</vt:lpstr>
    </vt:vector>
  </TitlesOfParts>
  <Company>HP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Autonomously Regulated Lumped Human Cardiovascular Model for Simulating Changes in Bodily Posture and Exercise</dc:title>
  <dc:creator>Filip Ježek</dc:creator>
  <cp:lastModifiedBy>Jezek, Filip</cp:lastModifiedBy>
  <cp:revision>97</cp:revision>
  <dcterms:created xsi:type="dcterms:W3CDTF">2021-03-24T10:47:54Z</dcterms:created>
  <dcterms:modified xsi:type="dcterms:W3CDTF">2025-09-11T12:07:42Z</dcterms:modified>
</cp:coreProperties>
</file>